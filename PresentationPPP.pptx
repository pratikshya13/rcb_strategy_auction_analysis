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73"/>
  </p:normalViewPr>
  <p:slideViewPr>
    <p:cSldViewPr snapToGrid="0">
      <p:cViewPr varScale="1">
        <p:scale>
          <a:sx n="104" d="100"/>
          <a:sy n="104" d="100"/>
        </p:scale>
        <p:origin x="232"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0F53-2E9E-720E-DD7A-DAD29414DB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07F9272-1487-BE9A-29CD-67E4FB5F87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53CC55-1B88-DCD3-0113-57697CE11543}"/>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62E09184-4C2F-F538-2DC9-980591364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64FA7-285D-DE1E-A331-1AA2FA238D1C}"/>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1345845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D6DE8-6674-A68E-AE90-B7F64E3EFCB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D6D2317-0C0B-04C9-0435-17E941C6B0B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3E0CF7-960F-6CA8-7B1C-7B76D706665C}"/>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255C64B2-4D2D-7579-4901-C44B757BA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F96CC-5291-DC9C-6116-7B6ADBDAF01F}"/>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3516331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89599-4B4E-8F66-BE5C-C7CEFB03DF5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BDD301E-2B53-F7D0-D286-7894D2395A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857A68E-D256-4A18-6964-72F0D4423705}"/>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D24D8F83-6E3F-CB1D-3D29-923FE2F54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488BD-5039-9588-29FF-8B74C25F9A3B}"/>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4013071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D765-0B8F-6A79-56F0-51514B7772C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D1E420A-C0E4-FEF5-BE82-72F195B9EC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631B8F7-1567-3A5A-19FA-7BA99161C95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B5444C1-CAFA-1CBA-65BC-390F227BD7EE}"/>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6" name="Footer Placeholder 5">
            <a:extLst>
              <a:ext uri="{FF2B5EF4-FFF2-40B4-BE49-F238E27FC236}">
                <a16:creationId xmlns:a16="http://schemas.microsoft.com/office/drawing/2014/main" id="{2B12A230-AC45-E5FB-110E-63C19E9B39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E6E92C-22F9-0248-1D65-F6AF5210AA78}"/>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3444075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B986-518E-8D5B-1543-BAFB119AD24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825CE3-A7FA-A08A-D9DF-E2A89B16CD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D488EA-CA91-E369-3044-855C85A24AF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F113441-A153-53F1-A571-5336C48526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5484226-CE77-326A-7146-D185D01965B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03CCA41-3441-4A9A-D6B7-97D468A713CE}"/>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8" name="Footer Placeholder 7">
            <a:extLst>
              <a:ext uri="{FF2B5EF4-FFF2-40B4-BE49-F238E27FC236}">
                <a16:creationId xmlns:a16="http://schemas.microsoft.com/office/drawing/2014/main" id="{C66782AF-E7DF-9F30-F6F0-489C9423D1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219295-62F2-354A-CA0C-A449421F6A3A}"/>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3660249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FDA50-A74C-87E6-C66F-239CC96DA37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3F6E062-7CC4-CC03-2B8C-1F682491854B}"/>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4" name="Footer Placeholder 3">
            <a:extLst>
              <a:ext uri="{FF2B5EF4-FFF2-40B4-BE49-F238E27FC236}">
                <a16:creationId xmlns:a16="http://schemas.microsoft.com/office/drawing/2014/main" id="{A839E89C-26DD-91D0-4CE8-FEF2419B9D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33A7C8-1562-3E02-5F30-8F1CA3BC4825}"/>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431600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67CE15-26B0-DEF4-E5F3-35DA896BB761}"/>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3" name="Footer Placeholder 2">
            <a:extLst>
              <a:ext uri="{FF2B5EF4-FFF2-40B4-BE49-F238E27FC236}">
                <a16:creationId xmlns:a16="http://schemas.microsoft.com/office/drawing/2014/main" id="{699B3DE3-2612-7CFF-84FE-5E2B56DD70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07B13F-A2C5-FE0B-4044-2E214E6C2235}"/>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4106152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D905-6470-AFA1-F3AC-1E52BF30EE5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9BD8BD0-D34C-D732-18F3-5CB5534F67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E585F0F-1026-2C03-3964-AB0AA9289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7614B3B-98AB-AD53-43E4-7896900DBCA2}"/>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6" name="Footer Placeholder 5">
            <a:extLst>
              <a:ext uri="{FF2B5EF4-FFF2-40B4-BE49-F238E27FC236}">
                <a16:creationId xmlns:a16="http://schemas.microsoft.com/office/drawing/2014/main" id="{FC9CA8F2-34EE-A0F6-5AFD-C0B36CD1DE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C76ADC-305F-0B20-3E50-6A13C51656FD}"/>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33077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4CD5E-30AC-2BDF-3CFA-03EC41BED8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4BAFCB-B318-CFDC-4D6F-A5CBF3A003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846E9B-CFD7-D405-1CB2-84D6ECC4D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1C656A-DB07-2986-6686-C715F08257D9}"/>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6" name="Footer Placeholder 5">
            <a:extLst>
              <a:ext uri="{FF2B5EF4-FFF2-40B4-BE49-F238E27FC236}">
                <a16:creationId xmlns:a16="http://schemas.microsoft.com/office/drawing/2014/main" id="{611F1733-0BE9-8FA2-7A07-060C812FE4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E31A24-7367-35EB-761C-8111D788EDC8}"/>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1488859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2F17-2FCB-27D8-38A1-C994F67401C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DCBBA9A-E0FD-2798-D620-ED169FAFBB2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B23500-7F1D-A3DA-6854-EFEEA3A7CCA1}"/>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A316BEDB-50C2-CD8A-9B5A-956FC6CB8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E5BAF-B35E-3F37-E0B0-D8806E05DF3F}"/>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271963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89E512-8E64-D4CB-2BEC-85ED6E4CD11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65CF855-DD00-091B-715C-14DC6D401EA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9E527-219D-A76F-75FF-713A5B1DE46B}"/>
              </a:ext>
            </a:extLst>
          </p:cNvPr>
          <p:cNvSpPr>
            <a:spLocks noGrp="1"/>
          </p:cNvSpPr>
          <p:nvPr>
            <p:ph type="dt" sz="half" idx="10"/>
          </p:nvPr>
        </p:nvSpPr>
        <p:spPr/>
        <p:txBody>
          <a:body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D902E4ED-4B9A-EC33-9A54-3FE9D9A5E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BC2F3-4673-0E0B-FBA2-C8BB678A73B7}"/>
              </a:ext>
            </a:extLst>
          </p:cNvPr>
          <p:cNvSpPr>
            <a:spLocks noGrp="1"/>
          </p:cNvSpPr>
          <p:nvPr>
            <p:ph type="sldNum" sz="quarter" idx="12"/>
          </p:nvPr>
        </p:nvSpPr>
        <p:spPr/>
        <p:txBody>
          <a:bodyPr/>
          <a:lstStyle/>
          <a:p>
            <a:fld id="{C3B4AFC2-57A5-C04B-AED4-EF07C58293A9}" type="slidenum">
              <a:rPr lang="en-US" smtClean="0"/>
              <a:t>‹#›</a:t>
            </a:fld>
            <a:endParaRPr lang="en-US"/>
          </a:p>
        </p:txBody>
      </p:sp>
    </p:spTree>
    <p:extLst>
      <p:ext uri="{BB962C8B-B14F-4D97-AF65-F5344CB8AC3E}">
        <p14:creationId xmlns:p14="http://schemas.microsoft.com/office/powerpoint/2010/main" val="377220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9D418B-9441-004C-ADDB-B1E7543E6A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0F4F5BC-D384-89D1-6E72-6C8FAC70D0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BDA36E-9B8C-D72D-FF2C-8FE18D177C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6813F-EEC2-B942-A92D-71560F740D01}" type="datetimeFigureOut">
              <a:rPr lang="en-US" smtClean="0"/>
              <a:t>6/1/26</a:t>
            </a:fld>
            <a:endParaRPr lang="en-US"/>
          </a:p>
        </p:txBody>
      </p:sp>
      <p:sp>
        <p:nvSpPr>
          <p:cNvPr id="5" name="Footer Placeholder 4">
            <a:extLst>
              <a:ext uri="{FF2B5EF4-FFF2-40B4-BE49-F238E27FC236}">
                <a16:creationId xmlns:a16="http://schemas.microsoft.com/office/drawing/2014/main" id="{6AA0171F-6830-B799-8178-5A3334F5D2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C6D8D1-1523-9678-1A64-FAA5059A4B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B4AFC2-57A5-C04B-AED4-EF07C58293A9}" type="slidenum">
              <a:rPr lang="en-US" smtClean="0"/>
              <a:t>‹#›</a:t>
            </a:fld>
            <a:endParaRPr lang="en-US"/>
          </a:p>
        </p:txBody>
      </p:sp>
    </p:spTree>
    <p:extLst>
      <p:ext uri="{BB962C8B-B14F-4D97-AF65-F5344CB8AC3E}">
        <p14:creationId xmlns:p14="http://schemas.microsoft.com/office/powerpoint/2010/main" val="1807214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04844-1BEF-F6BA-2A92-56CF2EA3A0B9}"/>
              </a:ext>
            </a:extLst>
          </p:cNvPr>
          <p:cNvSpPr>
            <a:spLocks noGrp="1"/>
          </p:cNvSpPr>
          <p:nvPr>
            <p:ph type="ctrTitle"/>
          </p:nvPr>
        </p:nvSpPr>
        <p:spPr>
          <a:xfrm>
            <a:off x="1524000" y="1122363"/>
            <a:ext cx="9144000" cy="4921598"/>
          </a:xfrm>
        </p:spPr>
        <p:txBody>
          <a:bodyPr>
            <a:normAutofit/>
          </a:bodyPr>
          <a:lstStyle/>
          <a:p>
            <a:r>
              <a:rPr lang="en-US" sz="2800" dirty="0">
                <a:latin typeface="+mn-lt"/>
                <a:sym typeface="+mn-ea"/>
              </a:rPr>
              <a:t>IPL Data Analysis: </a:t>
            </a:r>
            <a:br>
              <a:rPr lang="en-US" sz="2800" dirty="0">
                <a:latin typeface="+mn-lt"/>
                <a:sym typeface="+mn-ea"/>
              </a:rPr>
            </a:br>
            <a:r>
              <a:rPr lang="en-US" sz="2800" dirty="0">
                <a:latin typeface="+mn-lt"/>
                <a:sym typeface="+mn-ea"/>
              </a:rPr>
              <a:t>Building a Winning Strategy for RCB </a:t>
            </a:r>
            <a:br>
              <a:rPr lang="en-US" sz="2800" dirty="0">
                <a:solidFill>
                  <a:schemeClr val="tx2"/>
                </a:solidFill>
                <a:latin typeface="+mn-lt"/>
                <a:sym typeface="+mn-ea"/>
              </a:rPr>
            </a:br>
            <a:r>
              <a:rPr lang="en-US" sz="2800" b="1" dirty="0">
                <a:solidFill>
                  <a:schemeClr val="tx2"/>
                </a:solidFill>
                <a:latin typeface="+mn-lt"/>
                <a:sym typeface="+mn-ea"/>
              </a:rPr>
              <a:t>Pratikshya Priyadarshani Patra</a:t>
            </a:r>
            <a:endParaRPr lang="en-US" sz="2800" b="1" dirty="0">
              <a:solidFill>
                <a:schemeClr val="tx2"/>
              </a:solidFill>
              <a:latin typeface="+mn-lt"/>
            </a:endParaRPr>
          </a:p>
        </p:txBody>
      </p:sp>
      <p:pic>
        <p:nvPicPr>
          <p:cNvPr id="7" name="Picture 6">
            <a:extLst>
              <a:ext uri="{FF2B5EF4-FFF2-40B4-BE49-F238E27FC236}">
                <a16:creationId xmlns:a16="http://schemas.microsoft.com/office/drawing/2014/main" id="{09E6CEDE-6A99-6B5F-94D7-4335E39E3EB1}"/>
              </a:ext>
            </a:extLst>
          </p:cNvPr>
          <p:cNvPicPr>
            <a:picLocks noChangeAspect="1"/>
          </p:cNvPicPr>
          <p:nvPr/>
        </p:nvPicPr>
        <p:blipFill>
          <a:blip r:embed="rId2"/>
          <a:stretch>
            <a:fillRect/>
          </a:stretch>
        </p:blipFill>
        <p:spPr>
          <a:xfrm>
            <a:off x="4241800" y="1226634"/>
            <a:ext cx="3708400" cy="3568390"/>
          </a:xfrm>
          <a:prstGeom prst="rect">
            <a:avLst/>
          </a:prstGeom>
        </p:spPr>
      </p:pic>
    </p:spTree>
    <p:extLst>
      <p:ext uri="{BB962C8B-B14F-4D97-AF65-F5344CB8AC3E}">
        <p14:creationId xmlns:p14="http://schemas.microsoft.com/office/powerpoint/2010/main" val="259226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D2A3-6F3D-B10B-A30D-3DA15AA220A3}"/>
              </a:ext>
            </a:extLst>
          </p:cNvPr>
          <p:cNvSpPr>
            <a:spLocks noGrp="1"/>
          </p:cNvSpPr>
          <p:nvPr>
            <p:ph type="title"/>
          </p:nvPr>
        </p:nvSpPr>
        <p:spPr/>
        <p:txBody>
          <a:bodyPr/>
          <a:lstStyle/>
          <a:p>
            <a:r>
              <a:rPr lang="en-US" altLang="en-US" b="1" dirty="0">
                <a:latin typeface="+mn-lt"/>
                <a:cs typeface="Times New Roman" panose="02020603050405020304" charset="0"/>
                <a:sym typeface="+mn-ea"/>
              </a:rPr>
              <a:t>Agenda</a:t>
            </a:r>
            <a:endParaRPr lang="en-US" dirty="0">
              <a:latin typeface="+mn-lt"/>
            </a:endParaRPr>
          </a:p>
        </p:txBody>
      </p:sp>
      <p:sp>
        <p:nvSpPr>
          <p:cNvPr id="3" name="Content Placeholder 2">
            <a:extLst>
              <a:ext uri="{FF2B5EF4-FFF2-40B4-BE49-F238E27FC236}">
                <a16:creationId xmlns:a16="http://schemas.microsoft.com/office/drawing/2014/main" id="{7EF2AC57-818C-E4E5-159D-B26AD0DFCAEB}"/>
              </a:ext>
            </a:extLst>
          </p:cNvPr>
          <p:cNvSpPr>
            <a:spLocks noGrp="1"/>
          </p:cNvSpPr>
          <p:nvPr>
            <p:ph idx="1"/>
          </p:nvPr>
        </p:nvSpPr>
        <p:spPr/>
        <p:txBody>
          <a:bodyPr>
            <a:normAutofit/>
          </a:bodyPr>
          <a:lstStyle/>
          <a:p>
            <a:r>
              <a:rPr lang="en-US" altLang="en-US" sz="2000" dirty="0">
                <a:latin typeface="Bookman Old Style" panose="02050604050505020204" pitchFamily="18" charset="0"/>
                <a:cs typeface="Times New Roman" panose="02020603050405020304" charset="0"/>
                <a:sym typeface="+mn-ea"/>
              </a:rPr>
              <a:t>Problem Statement</a:t>
            </a:r>
            <a:endParaRPr lang="en-US" altLang="en-US" sz="2000" dirty="0">
              <a:latin typeface="Bookman Old Style" panose="02050604050505020204" pitchFamily="18" charset="0"/>
              <a:cs typeface="Times New Roman" panose="02020603050405020304" charset="0"/>
            </a:endParaRPr>
          </a:p>
          <a:p>
            <a:r>
              <a:rPr lang="en-US" altLang="en-US" sz="2000" dirty="0">
                <a:latin typeface="Bookman Old Style" panose="02050604050505020204" pitchFamily="18" charset="0"/>
                <a:cs typeface="Times New Roman" panose="02020603050405020304" charset="0"/>
                <a:sym typeface="+mn-ea"/>
              </a:rPr>
              <a:t>Data Description</a:t>
            </a:r>
            <a:endParaRPr lang="en-US" altLang="en-US" sz="2000" dirty="0">
              <a:latin typeface="Bookman Old Style" panose="02050604050505020204" pitchFamily="18" charset="0"/>
              <a:cs typeface="Times New Roman" panose="02020603050405020304" charset="0"/>
            </a:endParaRPr>
          </a:p>
          <a:p>
            <a:r>
              <a:rPr lang="en-US" altLang="en-US" sz="2000" dirty="0">
                <a:latin typeface="Bookman Old Style" panose="02050604050505020204" pitchFamily="18" charset="0"/>
                <a:cs typeface="Times New Roman" panose="02020603050405020304" charset="0"/>
                <a:sym typeface="+mn-ea"/>
              </a:rPr>
              <a:t>Setting the Context</a:t>
            </a:r>
            <a:r>
              <a:rPr lang="en-IN" altLang="en-US" sz="2000" dirty="0">
                <a:latin typeface="Bookman Old Style" panose="02050604050505020204" pitchFamily="18" charset="0"/>
                <a:cs typeface="Times New Roman" panose="02020603050405020304" charset="0"/>
                <a:sym typeface="+mn-ea"/>
              </a:rPr>
              <a:t> </a:t>
            </a:r>
            <a:r>
              <a:rPr lang="en-IN" altLang="en-US" sz="2000" b="1" i="1" dirty="0">
                <a:latin typeface="Bookman Old Style" panose="02050604050505020204" pitchFamily="18" charset="0"/>
                <a:cs typeface="Times New Roman" panose="02020603050405020304" charset="0"/>
                <a:sym typeface="+mn-ea"/>
              </a:rPr>
              <a:t>(</a:t>
            </a:r>
            <a:r>
              <a:rPr lang="en-US" altLang="en-US" sz="2000" b="1" i="1" dirty="0">
                <a:latin typeface="Bookman Old Style" panose="02050604050505020204" pitchFamily="18" charset="0"/>
                <a:cs typeface="Times New Roman" panose="02020603050405020304" charset="0"/>
                <a:sym typeface="+mn-ea"/>
              </a:rPr>
              <a:t>The Unanswered Question: Why No Trophy?</a:t>
            </a:r>
            <a:r>
              <a:rPr lang="en-IN" altLang="en-US" sz="2000" b="1" i="1" dirty="0">
                <a:latin typeface="Bookman Old Style" panose="02050604050505020204" pitchFamily="18" charset="0"/>
                <a:cs typeface="Times New Roman" panose="02020603050405020304" charset="0"/>
                <a:sym typeface="+mn-ea"/>
              </a:rPr>
              <a:t> &amp; R</a:t>
            </a:r>
            <a:r>
              <a:rPr lang="en-US" altLang="en-US" sz="2000" b="1" i="1" dirty="0">
                <a:latin typeface="Bookman Old Style" panose="02050604050505020204" pitchFamily="18" charset="0"/>
                <a:cs typeface="Times New Roman" panose="02020603050405020304" charset="0"/>
                <a:sym typeface="+mn-ea"/>
              </a:rPr>
              <a:t>CB Performance Overview (Season-wise))</a:t>
            </a:r>
            <a:endParaRPr lang="en-US" altLang="en-US" sz="2000" dirty="0">
              <a:latin typeface="Bookman Old Style" panose="02050604050505020204" pitchFamily="18" charset="0"/>
              <a:cs typeface="Times New Roman" panose="02020603050405020304" charset="0"/>
            </a:endParaRPr>
          </a:p>
          <a:p>
            <a:r>
              <a:rPr lang="en-US" altLang="en-US" sz="2000" dirty="0">
                <a:latin typeface="Bookman Old Style" panose="02050604050505020204" pitchFamily="18" charset="0"/>
                <a:cs typeface="Times New Roman" panose="02020603050405020304" charset="0"/>
                <a:sym typeface="+mn-ea"/>
              </a:rPr>
              <a:t>On-Field Patterns &amp; Tactical Insights</a:t>
            </a:r>
            <a:r>
              <a:rPr lang="en-IN" altLang="en-US" sz="2000" dirty="0">
                <a:latin typeface="Bookman Old Style" panose="02050604050505020204" pitchFamily="18" charset="0"/>
                <a:cs typeface="Times New Roman" panose="02020603050405020304" charset="0"/>
                <a:sym typeface="+mn-ea"/>
              </a:rPr>
              <a:t> </a:t>
            </a:r>
            <a:r>
              <a:rPr lang="en-US" altLang="en-US" sz="2000" b="1" i="1" dirty="0">
                <a:latin typeface="Bookman Old Style" panose="02050604050505020204" pitchFamily="18" charset="0"/>
                <a:cs typeface="Times New Roman" panose="02020603050405020304" charset="0"/>
                <a:sym typeface="+mn-ea"/>
              </a:rPr>
              <a:t>(Home vs Away Performance &amp; Toss Decisions &amp; Venue Impact)</a:t>
            </a:r>
            <a:endParaRPr lang="en-IN" altLang="en-US" sz="2000" b="1" dirty="0">
              <a:latin typeface="Bookman Old Style" panose="02050604050505020204" pitchFamily="18" charset="0"/>
              <a:cs typeface="Times New Roman" panose="02020603050405020304" charset="0"/>
            </a:endParaRPr>
          </a:p>
          <a:p>
            <a:r>
              <a:rPr lang="en-US" altLang="en-US" sz="2000" dirty="0">
                <a:latin typeface="Bookman Old Style" panose="02050604050505020204" pitchFamily="18" charset="0"/>
                <a:cs typeface="Times New Roman" panose="02020603050405020304" charset="0"/>
                <a:sym typeface="+mn-ea"/>
              </a:rPr>
              <a:t>Team Dependency &amp; Squad Structure</a:t>
            </a:r>
            <a:r>
              <a:rPr lang="en-IN" altLang="en-US" sz="2000" b="1" dirty="0">
                <a:latin typeface="Bookman Old Style" panose="02050604050505020204" pitchFamily="18" charset="0"/>
                <a:cs typeface="Times New Roman" panose="02020603050405020304" charset="0"/>
                <a:sym typeface="+mn-ea"/>
              </a:rPr>
              <a:t>(</a:t>
            </a:r>
            <a:r>
              <a:rPr lang="en-US" altLang="en-US" sz="2000" b="1" dirty="0">
                <a:latin typeface="Bookman Old Style" panose="02050604050505020204" pitchFamily="18" charset="0"/>
                <a:cs typeface="Times New Roman" panose="02020603050405020304" charset="0"/>
                <a:sym typeface="+mn-ea"/>
              </a:rPr>
              <a:t>Player Presence &amp; Morale Impact</a:t>
            </a:r>
            <a:r>
              <a:rPr lang="en-IN" altLang="en-US" sz="2000" b="1" dirty="0">
                <a:latin typeface="Bookman Old Style" panose="02050604050505020204" pitchFamily="18" charset="0"/>
                <a:cs typeface="Times New Roman" panose="02020603050405020304" charset="0"/>
                <a:sym typeface="+mn-ea"/>
              </a:rPr>
              <a:t>, </a:t>
            </a:r>
            <a:r>
              <a:rPr lang="en-US" altLang="en-US" sz="2000" b="1" dirty="0">
                <a:latin typeface="Bookman Old Style" panose="02050604050505020204" pitchFamily="18" charset="0"/>
                <a:cs typeface="Times New Roman" panose="02020603050405020304" charset="0"/>
                <a:sym typeface="+mn-ea"/>
              </a:rPr>
              <a:t>Squad Balance: Batting vs Bowling</a:t>
            </a:r>
            <a:r>
              <a:rPr lang="en-IN" altLang="en-US" sz="2000" b="1" dirty="0">
                <a:latin typeface="Bookman Old Style" panose="02050604050505020204" pitchFamily="18" charset="0"/>
                <a:cs typeface="Times New Roman" panose="02020603050405020304" charset="0"/>
                <a:sym typeface="+mn-ea"/>
              </a:rPr>
              <a:t>,  </a:t>
            </a:r>
            <a:r>
              <a:rPr lang="en-US" altLang="en-US" sz="2000" b="1" dirty="0">
                <a:latin typeface="Bookman Old Style" panose="02050604050505020204" pitchFamily="18" charset="0"/>
                <a:cs typeface="Times New Roman" panose="02020603050405020304" charset="0"/>
                <a:sym typeface="+mn-ea"/>
              </a:rPr>
              <a:t>Role of All-Rounders</a:t>
            </a:r>
            <a:r>
              <a:rPr lang="en-IN" altLang="en-US" sz="2000" b="1" dirty="0">
                <a:latin typeface="Bookman Old Style" panose="02050604050505020204" pitchFamily="18" charset="0"/>
                <a:cs typeface="Times New Roman" panose="02020603050405020304" charset="0"/>
                <a:sym typeface="+mn-ea"/>
              </a:rPr>
              <a:t> &amp; </a:t>
            </a:r>
            <a:r>
              <a:rPr lang="en-US" altLang="en-US" sz="2000" b="1" dirty="0">
                <a:latin typeface="Bookman Old Style" panose="02050604050505020204" pitchFamily="18" charset="0"/>
                <a:cs typeface="Times New Roman" panose="02020603050405020304" charset="0"/>
                <a:sym typeface="+mn-ea"/>
              </a:rPr>
              <a:t>Stars vs Team Performance</a:t>
            </a:r>
            <a:r>
              <a:rPr lang="en-IN" altLang="en-US" sz="2000" b="1" dirty="0">
                <a:latin typeface="Bookman Old Style" panose="02050604050505020204" pitchFamily="18" charset="0"/>
                <a:cs typeface="Times New Roman" panose="02020603050405020304" charset="0"/>
                <a:sym typeface="+mn-ea"/>
              </a:rPr>
              <a:t>)</a:t>
            </a:r>
            <a:endParaRPr lang="en-IN" altLang="en-US" sz="2000" b="1" dirty="0">
              <a:latin typeface="Bookman Old Style" panose="02050604050505020204" pitchFamily="18" charset="0"/>
              <a:cs typeface="Times New Roman" panose="02020603050405020304" charset="0"/>
            </a:endParaRPr>
          </a:p>
          <a:p>
            <a:r>
              <a:rPr lang="en-US" altLang="en-US" sz="2000" dirty="0">
                <a:latin typeface="Bookman Old Style" panose="02050604050505020204" pitchFamily="18" charset="0"/>
                <a:cs typeface="Times New Roman" panose="02020603050405020304" charset="0"/>
                <a:sym typeface="+mn-ea"/>
              </a:rPr>
              <a:t>The Verdict &amp; The Way Forward</a:t>
            </a:r>
            <a:r>
              <a:rPr lang="en-IN" altLang="en-US" sz="2000" dirty="0">
                <a:latin typeface="Bookman Old Style" panose="02050604050505020204" pitchFamily="18" charset="0"/>
                <a:cs typeface="Times New Roman" panose="02020603050405020304" charset="0"/>
                <a:sym typeface="+mn-ea"/>
              </a:rPr>
              <a:t> </a:t>
            </a:r>
            <a:r>
              <a:rPr lang="en-IN" altLang="en-US" sz="2000" b="1" dirty="0">
                <a:latin typeface="Bookman Old Style" panose="02050604050505020204" pitchFamily="18" charset="0"/>
                <a:cs typeface="Times New Roman" panose="02020603050405020304" charset="0"/>
                <a:sym typeface="+mn-ea"/>
              </a:rPr>
              <a:t>(</a:t>
            </a:r>
            <a:r>
              <a:rPr lang="en-US" altLang="en-US" sz="2000" b="1" dirty="0">
                <a:latin typeface="Bookman Old Style" panose="02050604050505020204" pitchFamily="18" charset="0"/>
                <a:cs typeface="Times New Roman" panose="02020603050405020304" charset="0"/>
                <a:sym typeface="+mn-ea"/>
              </a:rPr>
              <a:t>Key Reasons for the Trophy Drought</a:t>
            </a:r>
            <a:r>
              <a:rPr lang="en-IN" altLang="en-US" sz="2000" b="1" dirty="0">
                <a:latin typeface="Bookman Old Style" panose="02050604050505020204" pitchFamily="18" charset="0"/>
                <a:cs typeface="Times New Roman" panose="02020603050405020304" charset="0"/>
                <a:sym typeface="+mn-ea"/>
              </a:rPr>
              <a:t> &amp; </a:t>
            </a:r>
            <a:r>
              <a:rPr lang="en-US" altLang="en-US" sz="2000" b="1" dirty="0">
                <a:latin typeface="Bookman Old Style" panose="02050604050505020204" pitchFamily="18" charset="0"/>
                <a:cs typeface="Times New Roman" panose="02020603050405020304" charset="0"/>
                <a:sym typeface="+mn-ea"/>
              </a:rPr>
              <a:t>Forging a New Path: Strategies for Success</a:t>
            </a:r>
            <a:r>
              <a:rPr lang="en-IN" altLang="en-US" sz="2000" b="1" dirty="0">
                <a:latin typeface="Bookman Old Style" panose="02050604050505020204" pitchFamily="18" charset="0"/>
                <a:cs typeface="Times New Roman" panose="02020603050405020304" charset="0"/>
                <a:sym typeface="+mn-ea"/>
              </a:rPr>
              <a:t>)</a:t>
            </a:r>
            <a:endParaRPr lang="en-IN" altLang="en-US" sz="2000" dirty="0">
              <a:latin typeface="Bookman Old Style" panose="02050604050505020204" pitchFamily="18" charset="0"/>
              <a:cs typeface="Times New Roman" panose="02020603050405020304" charset="0"/>
            </a:endParaRPr>
          </a:p>
          <a:p>
            <a:endParaRPr lang="en-US" dirty="0"/>
          </a:p>
        </p:txBody>
      </p:sp>
    </p:spTree>
    <p:extLst>
      <p:ext uri="{BB962C8B-B14F-4D97-AF65-F5344CB8AC3E}">
        <p14:creationId xmlns:p14="http://schemas.microsoft.com/office/powerpoint/2010/main" val="3817653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2B03-F5EB-968F-8294-93777CFFF8B2}"/>
              </a:ext>
            </a:extLst>
          </p:cNvPr>
          <p:cNvSpPr>
            <a:spLocks noGrp="1"/>
          </p:cNvSpPr>
          <p:nvPr>
            <p:ph type="title"/>
          </p:nvPr>
        </p:nvSpPr>
        <p:spPr/>
        <p:txBody>
          <a:bodyPr/>
          <a:lstStyle/>
          <a:p>
            <a:r>
              <a:rPr lang="en-US" altLang="en-US" b="1" dirty="0">
                <a:latin typeface="+mn-lt"/>
                <a:cs typeface="Times New Roman" panose="02020603050405020304" charset="0"/>
                <a:sym typeface="+mn-ea"/>
              </a:rPr>
              <a:t>Problem Statement</a:t>
            </a:r>
            <a:endParaRPr lang="en-US" dirty="0">
              <a:latin typeface="+mn-lt"/>
            </a:endParaRPr>
          </a:p>
        </p:txBody>
      </p:sp>
      <p:sp>
        <p:nvSpPr>
          <p:cNvPr id="3" name="Content Placeholder 2">
            <a:extLst>
              <a:ext uri="{FF2B5EF4-FFF2-40B4-BE49-F238E27FC236}">
                <a16:creationId xmlns:a16="http://schemas.microsoft.com/office/drawing/2014/main" id="{EF6172D0-575F-245A-B92B-B184B4617AF0}"/>
              </a:ext>
            </a:extLst>
          </p:cNvPr>
          <p:cNvSpPr>
            <a:spLocks noGrp="1"/>
          </p:cNvSpPr>
          <p:nvPr>
            <p:ph idx="1"/>
          </p:nvPr>
        </p:nvSpPr>
        <p:spPr>
          <a:xfrm>
            <a:off x="938561" y="1690688"/>
            <a:ext cx="10515600" cy="4351338"/>
          </a:xfrm>
        </p:spPr>
        <p:txBody>
          <a:bodyPr>
            <a:normAutofit/>
          </a:bodyPr>
          <a:lstStyle/>
          <a:p>
            <a:pPr marL="0" indent="0">
              <a:buNone/>
            </a:pPr>
            <a:r>
              <a:rPr lang="en-IN" sz="2000" dirty="0">
                <a:latin typeface="Bookman Old Style" panose="02050604050505020204" pitchFamily="18" charset="0"/>
              </a:rPr>
              <a:t>RCB aims to build a strong and competitive squad for the 2017 Mega Auction while operating within a limited budget. The challenge is to identify players who not only deliver consistent on-field performance but also provide the best value for their auction price. A data-driven approach is required to evaluate player performance, reliability, and cost-effectiveness in order to optimize auction investments and maximize the team's chances of winning future tournaments.</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230455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ECAF-3143-89BD-B7A3-EA51336C83CF}"/>
              </a:ext>
            </a:extLst>
          </p:cNvPr>
          <p:cNvSpPr>
            <a:spLocks noGrp="1"/>
          </p:cNvSpPr>
          <p:nvPr>
            <p:ph type="title"/>
          </p:nvPr>
        </p:nvSpPr>
        <p:spPr/>
        <p:txBody>
          <a:bodyPr/>
          <a:lstStyle/>
          <a:p>
            <a:r>
              <a:rPr lang="en-US" altLang="en-US" sz="4400" b="1" dirty="0">
                <a:latin typeface="+mn-lt"/>
                <a:cs typeface="Times New Roman" panose="02020603050405020304" charset="0"/>
                <a:sym typeface="+mn-ea"/>
              </a:rPr>
              <a:t>Database schema</a:t>
            </a:r>
            <a:endParaRPr lang="en-US" dirty="0">
              <a:latin typeface="+mn-lt"/>
            </a:endParaRPr>
          </a:p>
        </p:txBody>
      </p:sp>
      <p:pic>
        <p:nvPicPr>
          <p:cNvPr id="4" name="Content Placeholder 5">
            <a:extLst>
              <a:ext uri="{FF2B5EF4-FFF2-40B4-BE49-F238E27FC236}">
                <a16:creationId xmlns:a16="http://schemas.microsoft.com/office/drawing/2014/main" id="{8CBCABBA-3DD0-4734-0DD2-6CBAC9613816}"/>
              </a:ext>
            </a:extLst>
          </p:cNvPr>
          <p:cNvPicPr>
            <a:picLocks noGrp="1" noChangeAspect="1"/>
          </p:cNvPicPr>
          <p:nvPr>
            <p:ph idx="1"/>
          </p:nvPr>
        </p:nvPicPr>
        <p:blipFill>
          <a:blip r:embed="rId2"/>
          <a:stretch>
            <a:fillRect/>
          </a:stretch>
        </p:blipFill>
        <p:spPr>
          <a:xfrm>
            <a:off x="1025912" y="1438507"/>
            <a:ext cx="9813073" cy="4738456"/>
          </a:xfrm>
          <a:prstGeom prst="rect">
            <a:avLst/>
          </a:prstGeom>
          <a:noFill/>
          <a:ln w="9525">
            <a:noFill/>
          </a:ln>
        </p:spPr>
      </p:pic>
    </p:spTree>
    <p:extLst>
      <p:ext uri="{BB962C8B-B14F-4D97-AF65-F5344CB8AC3E}">
        <p14:creationId xmlns:p14="http://schemas.microsoft.com/office/powerpoint/2010/main" val="3344714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4212-4D9A-E039-C8A8-3F14CC36C36C}"/>
              </a:ext>
            </a:extLst>
          </p:cNvPr>
          <p:cNvSpPr>
            <a:spLocks noGrp="1"/>
          </p:cNvSpPr>
          <p:nvPr>
            <p:ph type="title"/>
          </p:nvPr>
        </p:nvSpPr>
        <p:spPr/>
        <p:txBody>
          <a:bodyPr>
            <a:normAutofit/>
          </a:bodyPr>
          <a:lstStyle/>
          <a:p>
            <a:r>
              <a:rPr lang="en-US" sz="4400" b="1" dirty="0">
                <a:solidFill>
                  <a:srgbClr val="091C53"/>
                </a:solidFill>
                <a:latin typeface="+mn-lt"/>
                <a:ea typeface="Instrument Sans Semi Bold" pitchFamily="34" charset="-122"/>
                <a:cs typeface="Times New Roman" panose="02020603050405020304" charset="0"/>
                <a:sym typeface="+mn-ea"/>
              </a:rPr>
              <a:t>The Unanswered Question: </a:t>
            </a:r>
            <a:br>
              <a:rPr lang="en-US" sz="4400" b="1" dirty="0">
                <a:solidFill>
                  <a:srgbClr val="091C53"/>
                </a:solidFill>
                <a:latin typeface="+mn-lt"/>
                <a:ea typeface="Instrument Sans Semi Bold" pitchFamily="34" charset="-122"/>
                <a:cs typeface="Times New Roman" panose="02020603050405020304" charset="0"/>
                <a:sym typeface="+mn-ea"/>
              </a:rPr>
            </a:br>
            <a:r>
              <a:rPr lang="en-IN" sz="2800" dirty="0">
                <a:latin typeface="Bookman Old Style" panose="02050604050505020204" pitchFamily="18" charset="0"/>
              </a:rPr>
              <a:t>Why Has Success Not Translated into a Trophy?</a:t>
            </a:r>
            <a:endParaRPr lang="en-US" sz="28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5F970A26-3C90-0193-5EE5-638FCB177657}"/>
              </a:ext>
            </a:extLst>
          </p:cNvPr>
          <p:cNvSpPr>
            <a:spLocks noGrp="1"/>
          </p:cNvSpPr>
          <p:nvPr>
            <p:ph idx="1"/>
          </p:nvPr>
        </p:nvSpPr>
        <p:spPr/>
        <p:txBody>
          <a:bodyPr/>
          <a:lstStyle/>
          <a:p>
            <a:pPr marL="0" indent="0">
              <a:buNone/>
            </a:pPr>
            <a:r>
              <a:rPr lang="en-US" sz="2000" dirty="0">
                <a:solidFill>
                  <a:srgbClr val="1E3063"/>
                </a:solidFill>
                <a:latin typeface="Times New Roman" panose="02020603050405020304" charset="0"/>
                <a:ea typeface="Instrument Sans Medium" pitchFamily="34" charset="-122"/>
                <a:cs typeface="Times New Roman" panose="02020603050405020304" charset="0"/>
                <a:sym typeface="+mn-ea"/>
              </a:rPr>
              <a:t>Despite boasting world-class talent across multiple seasons, the Royal Challengers Bangalore have yet to lift the IPL trophy. This analysis dives deep into performance patterns, identifies critical gaps, and proposes data-driven strategies for future success.</a:t>
            </a:r>
            <a:endParaRPr lang="en-US" sz="2000" dirty="0">
              <a:latin typeface="Times New Roman" panose="02020603050405020304" charset="0"/>
              <a:cs typeface="Times New Roman" panose="02020603050405020304" charset="0"/>
            </a:endParaRPr>
          </a:p>
          <a:p>
            <a:endParaRPr lang="en-US" dirty="0"/>
          </a:p>
        </p:txBody>
      </p:sp>
      <p:pic>
        <p:nvPicPr>
          <p:cNvPr id="5" name="Picture 4">
            <a:extLst>
              <a:ext uri="{FF2B5EF4-FFF2-40B4-BE49-F238E27FC236}">
                <a16:creationId xmlns:a16="http://schemas.microsoft.com/office/drawing/2014/main" id="{328EA913-2FA1-2BED-9454-8F5B7E4F91EE}"/>
              </a:ext>
            </a:extLst>
          </p:cNvPr>
          <p:cNvPicPr>
            <a:picLocks noChangeAspect="1"/>
          </p:cNvPicPr>
          <p:nvPr/>
        </p:nvPicPr>
        <p:blipFill>
          <a:blip r:embed="rId2"/>
          <a:stretch>
            <a:fillRect/>
          </a:stretch>
        </p:blipFill>
        <p:spPr>
          <a:xfrm>
            <a:off x="3468030" y="3334214"/>
            <a:ext cx="4817326" cy="2664329"/>
          </a:xfrm>
          <a:prstGeom prst="rect">
            <a:avLst/>
          </a:prstGeom>
        </p:spPr>
      </p:pic>
    </p:spTree>
    <p:extLst>
      <p:ext uri="{BB962C8B-B14F-4D97-AF65-F5344CB8AC3E}">
        <p14:creationId xmlns:p14="http://schemas.microsoft.com/office/powerpoint/2010/main" val="1560456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127FC-838C-47B8-D1A1-3E8D99296F40}"/>
              </a:ext>
            </a:extLst>
          </p:cNvPr>
          <p:cNvSpPr>
            <a:spLocks noGrp="1"/>
          </p:cNvSpPr>
          <p:nvPr>
            <p:ph type="title"/>
          </p:nvPr>
        </p:nvSpPr>
        <p:spPr/>
        <p:txBody>
          <a:bodyPr>
            <a:normAutofit/>
          </a:bodyPr>
          <a:lstStyle/>
          <a:p>
            <a:r>
              <a:rPr lang="en-US" altLang="en-US" b="1" dirty="0">
                <a:latin typeface="+mn-lt"/>
                <a:cs typeface="Times New Roman" panose="02020603050405020304" charset="0"/>
                <a:sym typeface="+mn-ea"/>
              </a:rPr>
              <a:t>RCB Performance Overview (Season-wise)</a:t>
            </a:r>
            <a:endParaRPr lang="en-US" b="1" dirty="0">
              <a:latin typeface="+mn-lt"/>
            </a:endParaRPr>
          </a:p>
        </p:txBody>
      </p:sp>
      <p:sp>
        <p:nvSpPr>
          <p:cNvPr id="3" name="Content Placeholder 2">
            <a:extLst>
              <a:ext uri="{FF2B5EF4-FFF2-40B4-BE49-F238E27FC236}">
                <a16:creationId xmlns:a16="http://schemas.microsoft.com/office/drawing/2014/main" id="{949AC75D-2773-2885-045A-1F3979F75908}"/>
              </a:ext>
            </a:extLst>
          </p:cNvPr>
          <p:cNvSpPr>
            <a:spLocks noGrp="1"/>
          </p:cNvSpPr>
          <p:nvPr>
            <p:ph idx="1"/>
          </p:nvPr>
        </p:nvSpPr>
        <p:spPr/>
        <p:txBody>
          <a:bodyPr/>
          <a:lstStyle/>
          <a:p>
            <a:pPr marL="0" indent="0">
              <a:buNone/>
            </a:pPr>
            <a:r>
              <a:rPr lang="en-IN" sz="2000" dirty="0">
                <a:latin typeface="Bookman Old Style" panose="02050604050505020204" pitchFamily="18" charset="0"/>
              </a:rPr>
              <a:t>RCB has displayed significant volatility in performance across different IPL seasons, with periods of strong individual performances failing to translate into consistent team success. Despite having a talented squad capable of match-winning contributions, the team has struggled to maintain stability over time. This pattern highlights that the primary challenge is not a lack of talent, but rather inconsistency in performance and execution across matches and seasons.</a:t>
            </a:r>
          </a:p>
          <a:p>
            <a:endParaRPr lang="en-US" dirty="0"/>
          </a:p>
        </p:txBody>
      </p:sp>
      <p:pic>
        <p:nvPicPr>
          <p:cNvPr id="4" name="Picture 3">
            <a:extLst>
              <a:ext uri="{FF2B5EF4-FFF2-40B4-BE49-F238E27FC236}">
                <a16:creationId xmlns:a16="http://schemas.microsoft.com/office/drawing/2014/main" id="{86D46A0B-BAF9-119E-6A47-DE3A62BBADB8}"/>
              </a:ext>
            </a:extLst>
          </p:cNvPr>
          <p:cNvPicPr/>
          <p:nvPr/>
        </p:nvPicPr>
        <p:blipFill>
          <a:blip r:embed="rId2"/>
          <a:stretch>
            <a:fillRect/>
          </a:stretch>
        </p:blipFill>
        <p:spPr>
          <a:xfrm>
            <a:off x="3558423" y="3521230"/>
            <a:ext cx="4852128" cy="2790670"/>
          </a:xfrm>
          <a:prstGeom prst="rect">
            <a:avLst/>
          </a:prstGeom>
        </p:spPr>
      </p:pic>
    </p:spTree>
    <p:extLst>
      <p:ext uri="{BB962C8B-B14F-4D97-AF65-F5344CB8AC3E}">
        <p14:creationId xmlns:p14="http://schemas.microsoft.com/office/powerpoint/2010/main" val="375336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ED40-4541-0D63-2C27-C72829D8ED9C}"/>
              </a:ext>
            </a:extLst>
          </p:cNvPr>
          <p:cNvSpPr>
            <a:spLocks noGrp="1"/>
          </p:cNvSpPr>
          <p:nvPr>
            <p:ph type="title"/>
          </p:nvPr>
        </p:nvSpPr>
        <p:spPr/>
        <p:txBody>
          <a:bodyPr/>
          <a:lstStyle/>
          <a:p>
            <a:r>
              <a:rPr lang="en-US" altLang="en-US" sz="4400" b="1" dirty="0">
                <a:latin typeface="+mn-lt"/>
                <a:cs typeface="Times New Roman" panose="02020603050405020304" charset="0"/>
                <a:sym typeface="+mn-ea"/>
              </a:rPr>
              <a:t>Home vs Away performance</a:t>
            </a:r>
            <a:endParaRPr lang="en-US" b="1" dirty="0">
              <a:latin typeface="+mn-lt"/>
            </a:endParaRPr>
          </a:p>
        </p:txBody>
      </p:sp>
      <p:sp>
        <p:nvSpPr>
          <p:cNvPr id="3" name="Content Placeholder 2">
            <a:extLst>
              <a:ext uri="{FF2B5EF4-FFF2-40B4-BE49-F238E27FC236}">
                <a16:creationId xmlns:a16="http://schemas.microsoft.com/office/drawing/2014/main" id="{B1FCDEB6-EF20-A0E4-E4C0-F17327FD5DAD}"/>
              </a:ext>
            </a:extLst>
          </p:cNvPr>
          <p:cNvSpPr>
            <a:spLocks noGrp="1"/>
          </p:cNvSpPr>
          <p:nvPr>
            <p:ph idx="1"/>
          </p:nvPr>
        </p:nvSpPr>
        <p:spPr/>
        <p:txBody>
          <a:bodyPr>
            <a:normAutofit/>
          </a:bodyPr>
          <a:lstStyle/>
          <a:p>
            <a:pPr marL="0" indent="0">
              <a:buNone/>
            </a:pPr>
            <a:r>
              <a:rPr lang="en-IN" sz="2000" dirty="0">
                <a:latin typeface="Bookman Old Style" panose="02050604050505020204" pitchFamily="18" charset="0"/>
              </a:rPr>
              <a:t>RCB has consistently performed better in home conditions compared to away matches, indicating a strong dependence on familiar pitches and environments. In contrast, their performance drops significantly in away games, highlighting difficulties in adapting to varying pitch conditions and venue dynamics. This reliance on home advantage has limited the team’s ability to maintain consistent results throughout the tournament, ultimately affecting their overall success.</a:t>
            </a:r>
            <a:endParaRPr lang="en-US" sz="2000" dirty="0">
              <a:latin typeface="Bookman Old Style" panose="02050604050505020204" pitchFamily="18" charset="0"/>
            </a:endParaRPr>
          </a:p>
        </p:txBody>
      </p:sp>
      <p:pic>
        <p:nvPicPr>
          <p:cNvPr id="4" name="Picture 34" descr="IMG_256">
            <a:extLst>
              <a:ext uri="{FF2B5EF4-FFF2-40B4-BE49-F238E27FC236}">
                <a16:creationId xmlns:a16="http://schemas.microsoft.com/office/drawing/2014/main" id="{E330FE78-4A6B-E94F-6CEC-6533CA6EA375}"/>
              </a:ext>
            </a:extLst>
          </p:cNvPr>
          <p:cNvPicPr>
            <a:picLocks noChangeAspect="1"/>
          </p:cNvPicPr>
          <p:nvPr/>
        </p:nvPicPr>
        <p:blipFill>
          <a:blip r:embed="rId2"/>
          <a:stretch>
            <a:fillRect/>
          </a:stretch>
        </p:blipFill>
        <p:spPr>
          <a:xfrm>
            <a:off x="3311122" y="3585845"/>
            <a:ext cx="5187950" cy="2907030"/>
          </a:xfrm>
          <a:prstGeom prst="rect">
            <a:avLst/>
          </a:prstGeom>
          <a:noFill/>
          <a:ln w="9525">
            <a:noFill/>
          </a:ln>
        </p:spPr>
      </p:pic>
    </p:spTree>
    <p:extLst>
      <p:ext uri="{BB962C8B-B14F-4D97-AF65-F5344CB8AC3E}">
        <p14:creationId xmlns:p14="http://schemas.microsoft.com/office/powerpoint/2010/main" val="4027220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22A2F-4808-2D62-6F18-7429347A567A}"/>
              </a:ext>
            </a:extLst>
          </p:cNvPr>
          <p:cNvSpPr>
            <a:spLocks noGrp="1"/>
          </p:cNvSpPr>
          <p:nvPr>
            <p:ph type="title"/>
          </p:nvPr>
        </p:nvSpPr>
        <p:spPr/>
        <p:txBody>
          <a:bodyPr/>
          <a:lstStyle/>
          <a:p>
            <a:r>
              <a:rPr lang="en-US" altLang="en-US" sz="4400" b="1" dirty="0">
                <a:latin typeface="+mn-lt"/>
                <a:cs typeface="Times New Roman" panose="02020603050405020304" charset="0"/>
                <a:sym typeface="+mn-ea"/>
              </a:rPr>
              <a:t>Toss Decisions &amp; Venue Impact</a:t>
            </a:r>
            <a:endParaRPr lang="en-US" b="1" dirty="0">
              <a:latin typeface="+mn-lt"/>
            </a:endParaRPr>
          </a:p>
        </p:txBody>
      </p:sp>
      <p:sp>
        <p:nvSpPr>
          <p:cNvPr id="3" name="Content Placeholder 2">
            <a:extLst>
              <a:ext uri="{FF2B5EF4-FFF2-40B4-BE49-F238E27FC236}">
                <a16:creationId xmlns:a16="http://schemas.microsoft.com/office/drawing/2014/main" id="{EDF07D91-00BE-3F6D-EEB3-DAAA4E270D7C}"/>
              </a:ext>
            </a:extLst>
          </p:cNvPr>
          <p:cNvSpPr>
            <a:spLocks noGrp="1"/>
          </p:cNvSpPr>
          <p:nvPr>
            <p:ph idx="1"/>
          </p:nvPr>
        </p:nvSpPr>
        <p:spPr/>
        <p:txBody>
          <a:bodyPr/>
          <a:lstStyle/>
          <a:p>
            <a:pPr marL="0" indent="0">
              <a:buNone/>
            </a:pPr>
            <a:r>
              <a:rPr lang="en-IN" sz="2000" dirty="0">
                <a:latin typeface="Bookman Old Style" panose="02050604050505020204" pitchFamily="18" charset="0"/>
              </a:rPr>
              <a:t>Toss decisions were effective only at certain venues and failed to deliver consistent outcomes across different conditions. Identical choices often produced varying and sometimes opposite results depending on the venue, indicating a lack of flexibility in strategy. This inconsistency highlights a weak alignment between toss decisions and pitch </a:t>
            </a:r>
            <a:r>
              <a:rPr lang="en-IN" sz="2000" dirty="0" err="1">
                <a:latin typeface="Bookman Old Style" panose="02050604050505020204" pitchFamily="18" charset="0"/>
              </a:rPr>
              <a:t>behavior</a:t>
            </a:r>
            <a:r>
              <a:rPr lang="en-IN" sz="2000" dirty="0">
                <a:latin typeface="Bookman Old Style" panose="02050604050505020204" pitchFamily="18" charset="0"/>
              </a:rPr>
              <a:t>, suggesting the need for a more adaptive, venue-specific approach to improve decision-making effectiveness.</a:t>
            </a:r>
          </a:p>
          <a:p>
            <a:endParaRPr lang="en-US" dirty="0"/>
          </a:p>
        </p:txBody>
      </p:sp>
      <p:pic>
        <p:nvPicPr>
          <p:cNvPr id="4" name="Picture 3">
            <a:extLst>
              <a:ext uri="{FF2B5EF4-FFF2-40B4-BE49-F238E27FC236}">
                <a16:creationId xmlns:a16="http://schemas.microsoft.com/office/drawing/2014/main" id="{2293EC10-FD55-803A-ED8C-6E5118C55CCE}"/>
              </a:ext>
            </a:extLst>
          </p:cNvPr>
          <p:cNvPicPr/>
          <p:nvPr/>
        </p:nvPicPr>
        <p:blipFill>
          <a:blip r:embed="rId2"/>
          <a:stretch>
            <a:fillRect/>
          </a:stretch>
        </p:blipFill>
        <p:spPr>
          <a:xfrm>
            <a:off x="3178097" y="3528030"/>
            <a:ext cx="5126634" cy="2783870"/>
          </a:xfrm>
          <a:prstGeom prst="rect">
            <a:avLst/>
          </a:prstGeom>
        </p:spPr>
      </p:pic>
    </p:spTree>
    <p:extLst>
      <p:ext uri="{BB962C8B-B14F-4D97-AF65-F5344CB8AC3E}">
        <p14:creationId xmlns:p14="http://schemas.microsoft.com/office/powerpoint/2010/main" val="62961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278BE-6011-4BBF-9D25-85FD82FA73B0}"/>
              </a:ext>
            </a:extLst>
          </p:cNvPr>
          <p:cNvSpPr>
            <a:spLocks noGrp="1"/>
          </p:cNvSpPr>
          <p:nvPr>
            <p:ph type="title"/>
          </p:nvPr>
        </p:nvSpPr>
        <p:spPr/>
        <p:txBody>
          <a:bodyPr/>
          <a:lstStyle/>
          <a:p>
            <a:r>
              <a:rPr lang="en-US" altLang="en-US" sz="4400" b="1" dirty="0">
                <a:latin typeface="+mn-lt"/>
                <a:cs typeface="Times New Roman" panose="02020603050405020304" charset="0"/>
                <a:sym typeface="+mn-ea"/>
              </a:rPr>
              <a:t>Player Presence &amp; Morale Impact</a:t>
            </a:r>
            <a:endParaRPr lang="en-US" b="1" dirty="0">
              <a:latin typeface="+mn-lt"/>
            </a:endParaRPr>
          </a:p>
        </p:txBody>
      </p:sp>
      <p:sp>
        <p:nvSpPr>
          <p:cNvPr id="3" name="Content Placeholder 2">
            <a:extLst>
              <a:ext uri="{FF2B5EF4-FFF2-40B4-BE49-F238E27FC236}">
                <a16:creationId xmlns:a16="http://schemas.microsoft.com/office/drawing/2014/main" id="{F254193B-DABF-8F10-86DC-25A7ADF041C1}"/>
              </a:ext>
            </a:extLst>
          </p:cNvPr>
          <p:cNvSpPr>
            <a:spLocks noGrp="1"/>
          </p:cNvSpPr>
          <p:nvPr>
            <p:ph idx="1"/>
          </p:nvPr>
        </p:nvSpPr>
        <p:spPr/>
        <p:txBody>
          <a:bodyPr/>
          <a:lstStyle/>
          <a:p>
            <a:pPr marL="0" indent="0">
              <a:buNone/>
            </a:pPr>
            <a:r>
              <a:rPr lang="en-IN" sz="2000" dirty="0">
                <a:latin typeface="Bookman Old Style" panose="02050604050505020204" pitchFamily="18" charset="0"/>
              </a:rPr>
              <a:t>The team’s win percentage shows a noticeable improvement when certain key players are part of the playing XI, while their absence leads to a significant decline in overall performance. This pattern indicates a strong dependency on a few impactful individuals rather than a well-balanced and consistently performing unit.</a:t>
            </a:r>
          </a:p>
          <a:p>
            <a:endParaRPr lang="en-US" dirty="0"/>
          </a:p>
        </p:txBody>
      </p:sp>
      <p:pic>
        <p:nvPicPr>
          <p:cNvPr id="4" name="Picture 3">
            <a:extLst>
              <a:ext uri="{FF2B5EF4-FFF2-40B4-BE49-F238E27FC236}">
                <a16:creationId xmlns:a16="http://schemas.microsoft.com/office/drawing/2014/main" id="{83B7C5AB-8E4D-8692-0039-E5A263D1BDEC}"/>
              </a:ext>
            </a:extLst>
          </p:cNvPr>
          <p:cNvPicPr/>
          <p:nvPr/>
        </p:nvPicPr>
        <p:blipFill>
          <a:blip r:embed="rId2"/>
          <a:stretch>
            <a:fillRect/>
          </a:stretch>
        </p:blipFill>
        <p:spPr>
          <a:xfrm>
            <a:off x="3157870" y="3057525"/>
            <a:ext cx="5469890" cy="3254375"/>
          </a:xfrm>
          <a:prstGeom prst="rect">
            <a:avLst/>
          </a:prstGeom>
          <a:solidFill>
            <a:schemeClr val="tx1">
              <a:alpha val="30000"/>
            </a:schemeClr>
          </a:solidFill>
        </p:spPr>
      </p:pic>
    </p:spTree>
    <p:extLst>
      <p:ext uri="{BB962C8B-B14F-4D97-AF65-F5344CB8AC3E}">
        <p14:creationId xmlns:p14="http://schemas.microsoft.com/office/powerpoint/2010/main" val="285152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90A5C-FC7E-2C6D-6835-A2B1EA82FA5F}"/>
              </a:ext>
            </a:extLst>
          </p:cNvPr>
          <p:cNvSpPr>
            <a:spLocks noGrp="1"/>
          </p:cNvSpPr>
          <p:nvPr>
            <p:ph type="title"/>
          </p:nvPr>
        </p:nvSpPr>
        <p:spPr/>
        <p:txBody>
          <a:bodyPr/>
          <a:lstStyle/>
          <a:p>
            <a:r>
              <a:rPr lang="en-US" altLang="en-US" sz="4400" b="1" dirty="0">
                <a:latin typeface="+mn-lt"/>
                <a:cs typeface="Times New Roman" panose="02020603050405020304" charset="0"/>
                <a:sym typeface="+mn-ea"/>
              </a:rPr>
              <a:t>Squad Balance – Batting vs Bowling</a:t>
            </a:r>
            <a:endParaRPr lang="en-US" b="1" dirty="0">
              <a:latin typeface="+mn-lt"/>
            </a:endParaRPr>
          </a:p>
        </p:txBody>
      </p:sp>
      <p:sp>
        <p:nvSpPr>
          <p:cNvPr id="3" name="Content Placeholder 2">
            <a:extLst>
              <a:ext uri="{FF2B5EF4-FFF2-40B4-BE49-F238E27FC236}">
                <a16:creationId xmlns:a16="http://schemas.microsoft.com/office/drawing/2014/main" id="{29A799E9-9C2F-02B8-8F32-73A939362B7B}"/>
              </a:ext>
            </a:extLst>
          </p:cNvPr>
          <p:cNvSpPr>
            <a:spLocks noGrp="1"/>
          </p:cNvSpPr>
          <p:nvPr>
            <p:ph idx="1"/>
          </p:nvPr>
        </p:nvSpPr>
        <p:spPr/>
        <p:txBody>
          <a:bodyPr/>
          <a:lstStyle/>
          <a:p>
            <a:pPr marL="0" indent="0">
              <a:buNone/>
            </a:pPr>
            <a:r>
              <a:rPr lang="en-IN" sz="2000" dirty="0">
                <a:latin typeface="Bookman Old Style" panose="02050604050505020204" pitchFamily="18" charset="0"/>
              </a:rPr>
              <a:t>Batting performances have generally outperformed bowling contributions, indicating an imbalance in the team’s overall structure. The bowling unit has struggled with consistent wicket-taking across seasons, leading to reduced control over match situations. This lack of bowling stability has often resulted in the team’s inability to defend totals effectively or restrict opposition during run chases.</a:t>
            </a:r>
          </a:p>
          <a:p>
            <a:endParaRPr lang="en-US" dirty="0"/>
          </a:p>
        </p:txBody>
      </p:sp>
      <p:pic>
        <p:nvPicPr>
          <p:cNvPr id="4" name="Picture 31" descr="IMG_256">
            <a:extLst>
              <a:ext uri="{FF2B5EF4-FFF2-40B4-BE49-F238E27FC236}">
                <a16:creationId xmlns:a16="http://schemas.microsoft.com/office/drawing/2014/main" id="{1713B618-2AFD-7ED2-1E22-E01A66239DC0}"/>
              </a:ext>
            </a:extLst>
          </p:cNvPr>
          <p:cNvPicPr>
            <a:picLocks noChangeAspect="1"/>
          </p:cNvPicPr>
          <p:nvPr/>
        </p:nvPicPr>
        <p:blipFill>
          <a:blip r:embed="rId2"/>
          <a:stretch>
            <a:fillRect/>
          </a:stretch>
        </p:blipFill>
        <p:spPr>
          <a:xfrm>
            <a:off x="3170617" y="3243263"/>
            <a:ext cx="5285105" cy="2933700"/>
          </a:xfrm>
          <a:prstGeom prst="rect">
            <a:avLst/>
          </a:prstGeom>
          <a:noFill/>
          <a:ln w="9525">
            <a:noFill/>
          </a:ln>
        </p:spPr>
      </p:pic>
    </p:spTree>
    <p:extLst>
      <p:ext uri="{BB962C8B-B14F-4D97-AF65-F5344CB8AC3E}">
        <p14:creationId xmlns:p14="http://schemas.microsoft.com/office/powerpoint/2010/main" val="319909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F370A-9A3F-B75D-22BB-D5063A613CC4}"/>
              </a:ext>
            </a:extLst>
          </p:cNvPr>
          <p:cNvSpPr>
            <a:spLocks noGrp="1"/>
          </p:cNvSpPr>
          <p:nvPr>
            <p:ph type="title"/>
          </p:nvPr>
        </p:nvSpPr>
        <p:spPr/>
        <p:txBody>
          <a:bodyPr/>
          <a:lstStyle/>
          <a:p>
            <a:r>
              <a:rPr lang="en-US" altLang="en-US" sz="4400" b="1" dirty="0">
                <a:latin typeface="+mn-lt"/>
                <a:cs typeface="Times New Roman" panose="02020603050405020304" charset="0"/>
                <a:sym typeface="+mn-ea"/>
              </a:rPr>
              <a:t>Role of All-Rounders</a:t>
            </a:r>
            <a:endParaRPr lang="en-US" b="1" dirty="0">
              <a:latin typeface="+mn-lt"/>
            </a:endParaRPr>
          </a:p>
        </p:txBody>
      </p:sp>
      <p:sp>
        <p:nvSpPr>
          <p:cNvPr id="3" name="Content Placeholder 2">
            <a:extLst>
              <a:ext uri="{FF2B5EF4-FFF2-40B4-BE49-F238E27FC236}">
                <a16:creationId xmlns:a16="http://schemas.microsoft.com/office/drawing/2014/main" id="{31A6977D-CDDB-60A2-C012-331D23CE3D3C}"/>
              </a:ext>
            </a:extLst>
          </p:cNvPr>
          <p:cNvSpPr>
            <a:spLocks noGrp="1"/>
          </p:cNvSpPr>
          <p:nvPr>
            <p:ph idx="1"/>
          </p:nvPr>
        </p:nvSpPr>
        <p:spPr/>
        <p:txBody>
          <a:bodyPr/>
          <a:lstStyle/>
          <a:p>
            <a:pPr marL="0" indent="0">
              <a:buNone/>
            </a:pPr>
            <a:r>
              <a:rPr lang="en-IN" sz="2000" dirty="0">
                <a:latin typeface="Bookman Old Style" panose="02050604050505020204" pitchFamily="18" charset="0"/>
              </a:rPr>
              <a:t>Successful teams typically benefit from strong contributions from multi-skilled players who add balance to both batting and bowling departments. However, RCB’s all-rounder impact has been limited and inconsistent across seasons. This lack of reliable all-round depth increases pressure on specialist top-order batters and strike bowlers, reducing overall team balance and flexibility in match situations.</a:t>
            </a:r>
          </a:p>
          <a:p>
            <a:endParaRPr lang="en-US" dirty="0"/>
          </a:p>
        </p:txBody>
      </p:sp>
      <p:pic>
        <p:nvPicPr>
          <p:cNvPr id="4" name="Picture 30" descr="IMG_256">
            <a:extLst>
              <a:ext uri="{FF2B5EF4-FFF2-40B4-BE49-F238E27FC236}">
                <a16:creationId xmlns:a16="http://schemas.microsoft.com/office/drawing/2014/main" id="{560F198E-845E-ED53-0463-702A3A6912B2}"/>
              </a:ext>
            </a:extLst>
          </p:cNvPr>
          <p:cNvPicPr>
            <a:picLocks noChangeAspect="1"/>
          </p:cNvPicPr>
          <p:nvPr/>
        </p:nvPicPr>
        <p:blipFill>
          <a:blip r:embed="rId2"/>
          <a:stretch>
            <a:fillRect/>
          </a:stretch>
        </p:blipFill>
        <p:spPr>
          <a:xfrm>
            <a:off x="3264272" y="3597182"/>
            <a:ext cx="5219065" cy="2714718"/>
          </a:xfrm>
          <a:prstGeom prst="rect">
            <a:avLst/>
          </a:prstGeom>
          <a:noFill/>
          <a:ln w="9525">
            <a:noFill/>
          </a:ln>
        </p:spPr>
      </p:pic>
    </p:spTree>
    <p:extLst>
      <p:ext uri="{BB962C8B-B14F-4D97-AF65-F5344CB8AC3E}">
        <p14:creationId xmlns:p14="http://schemas.microsoft.com/office/powerpoint/2010/main" val="312244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BF464-19AF-DE69-733D-E0BB59A60E2F}"/>
              </a:ext>
            </a:extLst>
          </p:cNvPr>
          <p:cNvSpPr>
            <a:spLocks noGrp="1"/>
          </p:cNvSpPr>
          <p:nvPr>
            <p:ph type="title"/>
          </p:nvPr>
        </p:nvSpPr>
        <p:spPr/>
        <p:txBody>
          <a:bodyPr/>
          <a:lstStyle/>
          <a:p>
            <a:r>
              <a:rPr lang="en-US" altLang="en-US" sz="4400" b="1" dirty="0">
                <a:latin typeface="+mn-lt"/>
                <a:cs typeface="Times New Roman" panose="02020603050405020304" charset="0"/>
                <a:sym typeface="+mn-ea"/>
              </a:rPr>
              <a:t>Stars vs Team Performance</a:t>
            </a:r>
            <a:endParaRPr lang="en-US" b="1" dirty="0">
              <a:latin typeface="+mn-lt"/>
            </a:endParaRPr>
          </a:p>
        </p:txBody>
      </p:sp>
      <p:sp>
        <p:nvSpPr>
          <p:cNvPr id="3" name="Content Placeholder 2">
            <a:extLst>
              <a:ext uri="{FF2B5EF4-FFF2-40B4-BE49-F238E27FC236}">
                <a16:creationId xmlns:a16="http://schemas.microsoft.com/office/drawing/2014/main" id="{CE0229D6-3DB5-CDA5-BC3E-45AC389F14E3}"/>
              </a:ext>
            </a:extLst>
          </p:cNvPr>
          <p:cNvSpPr>
            <a:spLocks noGrp="1"/>
          </p:cNvSpPr>
          <p:nvPr>
            <p:ph idx="1"/>
          </p:nvPr>
        </p:nvSpPr>
        <p:spPr/>
        <p:txBody>
          <a:bodyPr/>
          <a:lstStyle/>
          <a:p>
            <a:pPr marL="0" indent="0">
              <a:buNone/>
            </a:pPr>
            <a:r>
              <a:rPr lang="en-IN" sz="2000" dirty="0">
                <a:latin typeface="Bookman Old Style" panose="02050604050505020204" pitchFamily="18" charset="0"/>
              </a:rPr>
              <a:t>The presence of star players often leads to strong individual match performances and can influence short-term outcomes. However, relying solely on star power has not translated into consistent playoff qualification or dominance in finals. This highlights that winning trophies requires cohesive team performance and collective execution rather than isolated individual brilliance.</a:t>
            </a:r>
          </a:p>
          <a:p>
            <a:endParaRPr lang="en-US" dirty="0"/>
          </a:p>
        </p:txBody>
      </p:sp>
      <p:pic>
        <p:nvPicPr>
          <p:cNvPr id="4" name="Picture 3">
            <a:extLst>
              <a:ext uri="{FF2B5EF4-FFF2-40B4-BE49-F238E27FC236}">
                <a16:creationId xmlns:a16="http://schemas.microsoft.com/office/drawing/2014/main" id="{FEF7AC1D-E9B1-7EC9-881A-30ED9EEBFAAA}"/>
              </a:ext>
            </a:extLst>
          </p:cNvPr>
          <p:cNvPicPr/>
          <p:nvPr/>
        </p:nvPicPr>
        <p:blipFill>
          <a:blip r:embed="rId2"/>
          <a:stretch>
            <a:fillRect/>
          </a:stretch>
        </p:blipFill>
        <p:spPr>
          <a:xfrm>
            <a:off x="3138511" y="3557241"/>
            <a:ext cx="5443855" cy="2520174"/>
          </a:xfrm>
          <a:prstGeom prst="rect">
            <a:avLst/>
          </a:prstGeom>
        </p:spPr>
      </p:pic>
    </p:spTree>
    <p:extLst>
      <p:ext uri="{BB962C8B-B14F-4D97-AF65-F5344CB8AC3E}">
        <p14:creationId xmlns:p14="http://schemas.microsoft.com/office/powerpoint/2010/main" val="3457109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4E9CF-F837-5731-7467-D4613FBA5474}"/>
              </a:ext>
            </a:extLst>
          </p:cNvPr>
          <p:cNvSpPr>
            <a:spLocks noGrp="1"/>
          </p:cNvSpPr>
          <p:nvPr>
            <p:ph type="title"/>
          </p:nvPr>
        </p:nvSpPr>
        <p:spPr/>
        <p:txBody>
          <a:bodyPr/>
          <a:lstStyle/>
          <a:p>
            <a:r>
              <a:rPr lang="en-US" b="1" dirty="0">
                <a:latin typeface="+mn-lt"/>
              </a:rPr>
              <a:t>Why NO Trophy:</a:t>
            </a:r>
          </a:p>
        </p:txBody>
      </p:sp>
      <p:sp>
        <p:nvSpPr>
          <p:cNvPr id="3" name="Content Placeholder 2">
            <a:extLst>
              <a:ext uri="{FF2B5EF4-FFF2-40B4-BE49-F238E27FC236}">
                <a16:creationId xmlns:a16="http://schemas.microsoft.com/office/drawing/2014/main" id="{FD9E5463-112A-056E-81D9-D4FC8FED11D5}"/>
              </a:ext>
            </a:extLst>
          </p:cNvPr>
          <p:cNvSpPr>
            <a:spLocks noGrp="1"/>
          </p:cNvSpPr>
          <p:nvPr>
            <p:ph idx="1"/>
          </p:nvPr>
        </p:nvSpPr>
        <p:spPr/>
        <p:txBody>
          <a:bodyPr>
            <a:normAutofit/>
          </a:bodyPr>
          <a:lstStyle/>
          <a:p>
            <a:pPr>
              <a:buFont typeface="Arial" panose="020B0604020202020204" pitchFamily="34" charset="0"/>
              <a:buChar char="•"/>
            </a:pPr>
            <a:r>
              <a:rPr lang="en-IN" sz="2200" b="1" dirty="0">
                <a:latin typeface="Bookman Old Style" panose="02050604050505020204" pitchFamily="18" charset="0"/>
              </a:rPr>
              <a:t>Inconsistent performance:</a:t>
            </a:r>
            <a:r>
              <a:rPr lang="en-IN" sz="2200" dirty="0">
                <a:latin typeface="Bookman Old Style" panose="02050604050505020204" pitchFamily="18" charset="0"/>
              </a:rPr>
              <a:t> Strong seasons followed by sharp drops, lacking long-term momentum </a:t>
            </a:r>
          </a:p>
          <a:p>
            <a:pPr>
              <a:buFont typeface="Arial" panose="020B0604020202020204" pitchFamily="34" charset="0"/>
              <a:buChar char="•"/>
            </a:pPr>
            <a:r>
              <a:rPr lang="en-IN" sz="2200" b="1" dirty="0">
                <a:latin typeface="Bookman Old Style" panose="02050604050505020204" pitchFamily="18" charset="0"/>
              </a:rPr>
              <a:t>Rigid tactics:</a:t>
            </a:r>
            <a:r>
              <a:rPr lang="en-IN" sz="2200" dirty="0">
                <a:latin typeface="Bookman Old Style" panose="02050604050505020204" pitchFamily="18" charset="0"/>
              </a:rPr>
              <a:t> Limited adaptability in strategies across venues and conditions </a:t>
            </a:r>
          </a:p>
          <a:p>
            <a:pPr>
              <a:buFont typeface="Arial" panose="020B0604020202020204" pitchFamily="34" charset="0"/>
              <a:buChar char="•"/>
            </a:pPr>
            <a:r>
              <a:rPr lang="en-IN" sz="2200" b="1" dirty="0">
                <a:latin typeface="Bookman Old Style" panose="02050604050505020204" pitchFamily="18" charset="0"/>
              </a:rPr>
              <a:t>Over-reliance on stars:</a:t>
            </a:r>
            <a:r>
              <a:rPr lang="en-IN" sz="2200" dirty="0">
                <a:latin typeface="Bookman Old Style" panose="02050604050505020204" pitchFamily="18" charset="0"/>
              </a:rPr>
              <a:t> Dependence on a few players instead of team-wide contributions </a:t>
            </a:r>
          </a:p>
          <a:p>
            <a:pPr>
              <a:buFont typeface="Arial" panose="020B0604020202020204" pitchFamily="34" charset="0"/>
              <a:buChar char="•"/>
            </a:pPr>
            <a:r>
              <a:rPr lang="en-IN" sz="2200" b="1" dirty="0">
                <a:latin typeface="Bookman Old Style" panose="02050604050505020204" pitchFamily="18" charset="0"/>
              </a:rPr>
              <a:t>Weak bowling unit:</a:t>
            </a:r>
            <a:r>
              <a:rPr lang="en-IN" sz="2200" dirty="0">
                <a:latin typeface="Bookman Old Style" panose="02050604050505020204" pitchFamily="18" charset="0"/>
              </a:rPr>
              <a:t> Inconsistent wicket-taking and poor death-over control </a:t>
            </a:r>
          </a:p>
          <a:p>
            <a:pPr>
              <a:buFont typeface="Arial" panose="020B0604020202020204" pitchFamily="34" charset="0"/>
              <a:buChar char="•"/>
            </a:pPr>
            <a:r>
              <a:rPr lang="en-IN" sz="2200" b="1" dirty="0">
                <a:latin typeface="Bookman Old Style" panose="02050604050505020204" pitchFamily="18" charset="0"/>
              </a:rPr>
              <a:t>Poor adaptability:</a:t>
            </a:r>
            <a:r>
              <a:rPr lang="en-IN" sz="2200" dirty="0">
                <a:latin typeface="Bookman Old Style" panose="02050604050505020204" pitchFamily="18" charset="0"/>
              </a:rPr>
              <a:t> Underperformance in away conditions </a:t>
            </a:r>
          </a:p>
          <a:p>
            <a:pPr>
              <a:buFont typeface="Arial" panose="020B0604020202020204" pitchFamily="34" charset="0"/>
              <a:buChar char="•"/>
            </a:pPr>
            <a:r>
              <a:rPr lang="en-IN" sz="2200" b="1" dirty="0">
                <a:latin typeface="Bookman Old Style" panose="02050604050505020204" pitchFamily="18" charset="0"/>
              </a:rPr>
              <a:t>Unbalanced squad:</a:t>
            </a:r>
            <a:r>
              <a:rPr lang="en-IN" sz="2200" dirty="0">
                <a:latin typeface="Bookman Old Style" panose="02050604050505020204" pitchFamily="18" charset="0"/>
              </a:rPr>
              <a:t> Focus on star players over building a complete, balanced team </a:t>
            </a:r>
          </a:p>
          <a:p>
            <a:endParaRPr lang="en-US" dirty="0"/>
          </a:p>
        </p:txBody>
      </p:sp>
    </p:spTree>
    <p:extLst>
      <p:ext uri="{BB962C8B-B14F-4D97-AF65-F5344CB8AC3E}">
        <p14:creationId xmlns:p14="http://schemas.microsoft.com/office/powerpoint/2010/main" val="1378434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EB52-12EA-C553-9507-85635522D9A7}"/>
              </a:ext>
            </a:extLst>
          </p:cNvPr>
          <p:cNvSpPr>
            <a:spLocks noGrp="1"/>
          </p:cNvSpPr>
          <p:nvPr>
            <p:ph type="title"/>
          </p:nvPr>
        </p:nvSpPr>
        <p:spPr/>
        <p:txBody>
          <a:bodyPr>
            <a:normAutofit/>
          </a:bodyPr>
          <a:lstStyle/>
          <a:p>
            <a:r>
              <a:rPr lang="en-IN" b="1" dirty="0">
                <a:latin typeface="+mn-lt"/>
              </a:rPr>
              <a:t>Crafting a Path to Glory</a:t>
            </a:r>
            <a:endParaRPr lang="en-US" b="1" dirty="0">
              <a:latin typeface="+mn-lt"/>
            </a:endParaRPr>
          </a:p>
        </p:txBody>
      </p:sp>
      <p:sp>
        <p:nvSpPr>
          <p:cNvPr id="3" name="Content Placeholder 2">
            <a:extLst>
              <a:ext uri="{FF2B5EF4-FFF2-40B4-BE49-F238E27FC236}">
                <a16:creationId xmlns:a16="http://schemas.microsoft.com/office/drawing/2014/main" id="{EE636ABD-748D-8C23-28CC-BE386516BF80}"/>
              </a:ext>
            </a:extLst>
          </p:cNvPr>
          <p:cNvSpPr>
            <a:spLocks noGrp="1"/>
          </p:cNvSpPr>
          <p:nvPr>
            <p:ph idx="1"/>
          </p:nvPr>
        </p:nvSpPr>
        <p:spPr/>
        <p:txBody>
          <a:bodyPr>
            <a:normAutofit fontScale="55000" lnSpcReduction="20000"/>
          </a:bodyPr>
          <a:lstStyle/>
          <a:p>
            <a:pPr marL="0" indent="0">
              <a:buNone/>
            </a:pPr>
            <a:r>
              <a:rPr lang="en-IN" sz="3600" b="1" dirty="0">
                <a:latin typeface="Bookman Old Style" panose="02050604050505020204" pitchFamily="18" charset="0"/>
              </a:rPr>
              <a:t>What Went Wrong</a:t>
            </a:r>
          </a:p>
          <a:p>
            <a:pPr>
              <a:buFont typeface="Arial" panose="020B0604020202020204" pitchFamily="34" charset="0"/>
              <a:buChar char="•"/>
            </a:pPr>
            <a:r>
              <a:rPr lang="en-IN" sz="3600" dirty="0">
                <a:latin typeface="Bookman Old Style" panose="02050604050505020204" pitchFamily="18" charset="0"/>
              </a:rPr>
              <a:t>Inconsistent performance across seasons </a:t>
            </a:r>
          </a:p>
          <a:p>
            <a:pPr>
              <a:buFont typeface="Arial" panose="020B0604020202020204" pitchFamily="34" charset="0"/>
              <a:buChar char="•"/>
            </a:pPr>
            <a:r>
              <a:rPr lang="en-IN" sz="3600" dirty="0">
                <a:latin typeface="Bookman Old Style" panose="02050604050505020204" pitchFamily="18" charset="0"/>
              </a:rPr>
              <a:t>Rigid and predictable strategies </a:t>
            </a:r>
          </a:p>
          <a:p>
            <a:pPr>
              <a:buFont typeface="Arial" panose="020B0604020202020204" pitchFamily="34" charset="0"/>
              <a:buChar char="•"/>
            </a:pPr>
            <a:r>
              <a:rPr lang="en-IN" sz="3600" dirty="0">
                <a:latin typeface="Bookman Old Style" panose="02050604050505020204" pitchFamily="18" charset="0"/>
              </a:rPr>
              <a:t>Over-reliance on star players </a:t>
            </a:r>
          </a:p>
          <a:p>
            <a:pPr>
              <a:buFont typeface="Arial" panose="020B0604020202020204" pitchFamily="34" charset="0"/>
              <a:buChar char="•"/>
            </a:pPr>
            <a:r>
              <a:rPr lang="en-IN" sz="3600" dirty="0">
                <a:latin typeface="Bookman Old Style" panose="02050604050505020204" pitchFamily="18" charset="0"/>
              </a:rPr>
              <a:t>Weak bowling in key moments </a:t>
            </a:r>
          </a:p>
          <a:p>
            <a:pPr>
              <a:buFont typeface="Arial" panose="020B0604020202020204" pitchFamily="34" charset="0"/>
              <a:buChar char="•"/>
            </a:pPr>
            <a:r>
              <a:rPr lang="en-IN" sz="3600" dirty="0">
                <a:latin typeface="Bookman Old Style" panose="02050604050505020204" pitchFamily="18" charset="0"/>
              </a:rPr>
              <a:t>Imbalanced squad structure </a:t>
            </a:r>
          </a:p>
          <a:p>
            <a:pPr marL="0" indent="0">
              <a:buNone/>
            </a:pPr>
            <a:r>
              <a:rPr lang="en-IN" sz="3600" b="1" dirty="0">
                <a:latin typeface="Bookman Old Style" panose="02050604050505020204" pitchFamily="18" charset="0"/>
              </a:rPr>
              <a:t>What Must Be Implemented</a:t>
            </a:r>
          </a:p>
          <a:p>
            <a:pPr>
              <a:buFont typeface="Arial" panose="020B0604020202020204" pitchFamily="34" charset="0"/>
              <a:buChar char="•"/>
            </a:pPr>
            <a:r>
              <a:rPr lang="en-IN" sz="3600" dirty="0">
                <a:latin typeface="Bookman Old Style" panose="02050604050505020204" pitchFamily="18" charset="0"/>
              </a:rPr>
              <a:t>Role-based team structure </a:t>
            </a:r>
          </a:p>
          <a:p>
            <a:pPr>
              <a:buFont typeface="Arial" panose="020B0604020202020204" pitchFamily="34" charset="0"/>
              <a:buChar char="•"/>
            </a:pPr>
            <a:r>
              <a:rPr lang="en-IN" sz="3600" dirty="0">
                <a:latin typeface="Bookman Old Style" panose="02050604050505020204" pitchFamily="18" charset="0"/>
              </a:rPr>
              <a:t>Flexible, situation-based tactics </a:t>
            </a:r>
          </a:p>
          <a:p>
            <a:pPr>
              <a:buFont typeface="Arial" panose="020B0604020202020204" pitchFamily="34" charset="0"/>
              <a:buChar char="•"/>
            </a:pPr>
            <a:r>
              <a:rPr lang="en-IN" sz="3600" dirty="0">
                <a:latin typeface="Bookman Old Style" panose="02050604050505020204" pitchFamily="18" charset="0"/>
              </a:rPr>
              <a:t>Balanced squad beyond star players </a:t>
            </a:r>
          </a:p>
          <a:p>
            <a:pPr>
              <a:buFont typeface="Arial" panose="020B0604020202020204" pitchFamily="34" charset="0"/>
              <a:buChar char="•"/>
            </a:pPr>
            <a:r>
              <a:rPr lang="en-IN" sz="3600" dirty="0">
                <a:latin typeface="Bookman Old Style" panose="02050604050505020204" pitchFamily="18" charset="0"/>
              </a:rPr>
              <a:t>Stronger death-over bowling </a:t>
            </a:r>
          </a:p>
          <a:p>
            <a:pPr>
              <a:buFont typeface="Arial" panose="020B0604020202020204" pitchFamily="34" charset="0"/>
              <a:buChar char="•"/>
            </a:pPr>
            <a:r>
              <a:rPr lang="en-IN" sz="3600" dirty="0">
                <a:latin typeface="Bookman Old Style" panose="02050604050505020204" pitchFamily="18" charset="0"/>
              </a:rPr>
              <a:t>More impactful all-rounders </a:t>
            </a:r>
          </a:p>
          <a:p>
            <a:endParaRPr lang="en-US" dirty="0"/>
          </a:p>
        </p:txBody>
      </p:sp>
      <p:pic>
        <p:nvPicPr>
          <p:cNvPr id="5" name="Picture 4">
            <a:extLst>
              <a:ext uri="{FF2B5EF4-FFF2-40B4-BE49-F238E27FC236}">
                <a16:creationId xmlns:a16="http://schemas.microsoft.com/office/drawing/2014/main" id="{F32EAE14-9A09-D5A2-438A-E58DD519F169}"/>
              </a:ext>
            </a:extLst>
          </p:cNvPr>
          <p:cNvPicPr>
            <a:picLocks noChangeAspect="1"/>
          </p:cNvPicPr>
          <p:nvPr/>
        </p:nvPicPr>
        <p:blipFill>
          <a:blip r:embed="rId2"/>
          <a:stretch>
            <a:fillRect/>
          </a:stretch>
        </p:blipFill>
        <p:spPr>
          <a:xfrm>
            <a:off x="6819900" y="1995616"/>
            <a:ext cx="4533900" cy="3293075"/>
          </a:xfrm>
          <a:prstGeom prst="rect">
            <a:avLst/>
          </a:prstGeom>
        </p:spPr>
      </p:pic>
    </p:spTree>
    <p:extLst>
      <p:ext uri="{BB962C8B-B14F-4D97-AF65-F5344CB8AC3E}">
        <p14:creationId xmlns:p14="http://schemas.microsoft.com/office/powerpoint/2010/main" val="1642325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35B5A-D438-1412-C049-4AAD27EB9EAF}"/>
              </a:ext>
            </a:extLst>
          </p:cNvPr>
          <p:cNvSpPr>
            <a:spLocks noGrp="1"/>
          </p:cNvSpPr>
          <p:nvPr>
            <p:ph type="title"/>
          </p:nvPr>
        </p:nvSpPr>
        <p:spPr/>
        <p:txBody>
          <a:bodyPr/>
          <a:lstStyle/>
          <a:p>
            <a:r>
              <a:rPr lang="en-IN" b="1" dirty="0">
                <a:latin typeface="+mn-lt"/>
              </a:rPr>
              <a:t>Improvement Plan</a:t>
            </a:r>
            <a:endParaRPr lang="en-US" b="1" dirty="0">
              <a:latin typeface="+mn-lt"/>
            </a:endParaRPr>
          </a:p>
        </p:txBody>
      </p:sp>
      <p:sp>
        <p:nvSpPr>
          <p:cNvPr id="3" name="Content Placeholder 2">
            <a:extLst>
              <a:ext uri="{FF2B5EF4-FFF2-40B4-BE49-F238E27FC236}">
                <a16:creationId xmlns:a16="http://schemas.microsoft.com/office/drawing/2014/main" id="{19FE5B9A-0114-07ED-2948-670DC8420409}"/>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IN" sz="2400" b="1" dirty="0">
                <a:latin typeface="Bookman Old Style" panose="02050604050505020204" pitchFamily="18" charset="0"/>
              </a:rPr>
              <a:t>All-rounders:</a:t>
            </a:r>
            <a:r>
              <a:rPr lang="en-IN" sz="2400" dirty="0">
                <a:latin typeface="Bookman Old Style" panose="02050604050505020204" pitchFamily="18" charset="0"/>
              </a:rPr>
              <a:t> Bat + ball balance for flexibility and reduced pressure on specialists </a:t>
            </a:r>
          </a:p>
          <a:p>
            <a:pPr>
              <a:buFont typeface="Arial" panose="020B0604020202020204" pitchFamily="34" charset="0"/>
              <a:buChar char="•"/>
            </a:pPr>
            <a:r>
              <a:rPr lang="en-IN" sz="2400" b="1" dirty="0">
                <a:latin typeface="Bookman Old Style" panose="02050604050505020204" pitchFamily="18" charset="0"/>
              </a:rPr>
              <a:t>Wicket-taking bowlers:</a:t>
            </a:r>
            <a:r>
              <a:rPr lang="en-IN" sz="2400" dirty="0">
                <a:latin typeface="Bookman Old Style" panose="02050604050505020204" pitchFamily="18" charset="0"/>
              </a:rPr>
              <a:t> Prioritize breakthroughs in powerplay and death overs </a:t>
            </a:r>
          </a:p>
          <a:p>
            <a:pPr>
              <a:buFont typeface="Arial" panose="020B0604020202020204" pitchFamily="34" charset="0"/>
              <a:buChar char="•"/>
            </a:pPr>
            <a:r>
              <a:rPr lang="en-IN" sz="2400" b="1" dirty="0">
                <a:latin typeface="Bookman Old Style" panose="02050604050505020204" pitchFamily="18" charset="0"/>
              </a:rPr>
              <a:t>Role backups:</a:t>
            </a:r>
            <a:r>
              <a:rPr lang="en-IN" sz="2400" dirty="0">
                <a:latin typeface="Bookman Old Style" panose="02050604050505020204" pitchFamily="18" charset="0"/>
              </a:rPr>
              <a:t> Ensure reliable replacements for every key player </a:t>
            </a:r>
          </a:p>
          <a:p>
            <a:pPr>
              <a:buFont typeface="Arial" panose="020B0604020202020204" pitchFamily="34" charset="0"/>
              <a:buChar char="•"/>
            </a:pPr>
            <a:r>
              <a:rPr lang="en-IN" sz="2400" b="1" dirty="0">
                <a:latin typeface="Bookman Old Style" panose="02050604050505020204" pitchFamily="18" charset="0"/>
              </a:rPr>
              <a:t>Venue-based planning:</a:t>
            </a:r>
            <a:r>
              <a:rPr lang="en-IN" sz="2400" dirty="0">
                <a:latin typeface="Bookman Old Style" panose="02050604050505020204" pitchFamily="18" charset="0"/>
              </a:rPr>
              <a:t> Adapt strategies based on pitch and ground conditions </a:t>
            </a:r>
          </a:p>
          <a:p>
            <a:pPr>
              <a:buFont typeface="Arial" panose="020B0604020202020204" pitchFamily="34" charset="0"/>
              <a:buChar char="•"/>
            </a:pPr>
            <a:r>
              <a:rPr lang="en-IN" sz="2400" b="1" dirty="0">
                <a:latin typeface="Bookman Old Style" panose="02050604050505020204" pitchFamily="18" charset="0"/>
              </a:rPr>
              <a:t>Flexible batting order:</a:t>
            </a:r>
            <a:r>
              <a:rPr lang="en-IN" sz="2400" dirty="0">
                <a:latin typeface="Bookman Old Style" panose="02050604050505020204" pitchFamily="18" charset="0"/>
              </a:rPr>
              <a:t> Adjust </a:t>
            </a:r>
            <a:r>
              <a:rPr lang="en-IN" sz="2400" dirty="0" err="1">
                <a:latin typeface="Bookman Old Style" panose="02050604050505020204" pitchFamily="18" charset="0"/>
              </a:rPr>
              <a:t>lineup</a:t>
            </a:r>
            <a:r>
              <a:rPr lang="en-IN" sz="2400" dirty="0">
                <a:latin typeface="Bookman Old Style" panose="02050604050505020204" pitchFamily="18" charset="0"/>
              </a:rPr>
              <a:t> based on match situation and opposition </a:t>
            </a:r>
          </a:p>
          <a:p>
            <a:pPr>
              <a:buFont typeface="Arial" panose="020B0604020202020204" pitchFamily="34" charset="0"/>
              <a:buChar char="•"/>
            </a:pPr>
            <a:r>
              <a:rPr lang="en-IN" sz="2400" b="1" dirty="0">
                <a:latin typeface="Bookman Old Style" panose="02050604050505020204" pitchFamily="18" charset="0"/>
              </a:rPr>
              <a:t>Death-over specialization:</a:t>
            </a:r>
            <a:r>
              <a:rPr lang="en-IN" sz="2400" dirty="0">
                <a:latin typeface="Bookman Old Style" panose="02050604050505020204" pitchFamily="18" charset="0"/>
              </a:rPr>
              <a:t> Invest in bowlers skilled in closing out matches </a:t>
            </a:r>
          </a:p>
          <a:p>
            <a:pPr>
              <a:buFont typeface="Arial" panose="020B0604020202020204" pitchFamily="34" charset="0"/>
              <a:buChar char="•"/>
            </a:pPr>
            <a:r>
              <a:rPr lang="en-IN" sz="2400" b="1" dirty="0">
                <a:latin typeface="Bookman Old Style" panose="02050604050505020204" pitchFamily="18" charset="0"/>
              </a:rPr>
              <a:t>Data-driven selection:</a:t>
            </a:r>
            <a:r>
              <a:rPr lang="en-IN" sz="2400" dirty="0">
                <a:latin typeface="Bookman Old Style" panose="02050604050505020204" pitchFamily="18" charset="0"/>
              </a:rPr>
              <a:t> Use performance metrics and consistency for auction picks </a:t>
            </a:r>
          </a:p>
          <a:p>
            <a:pPr>
              <a:buFont typeface="Arial" panose="020B0604020202020204" pitchFamily="34" charset="0"/>
              <a:buChar char="•"/>
            </a:pPr>
            <a:r>
              <a:rPr lang="en-IN" sz="2400" b="1" dirty="0">
                <a:latin typeface="Bookman Old Style" panose="02050604050505020204" pitchFamily="18" charset="0"/>
              </a:rPr>
              <a:t>Core team stability:</a:t>
            </a:r>
            <a:r>
              <a:rPr lang="en-IN" sz="2400" dirty="0">
                <a:latin typeface="Bookman Old Style" panose="02050604050505020204" pitchFamily="18" charset="0"/>
              </a:rPr>
              <a:t> Maintain a consistent core group across seasons </a:t>
            </a:r>
          </a:p>
          <a:p>
            <a:pPr>
              <a:buFont typeface="Arial" panose="020B0604020202020204" pitchFamily="34" charset="0"/>
              <a:buChar char="•"/>
            </a:pPr>
            <a:r>
              <a:rPr lang="en-IN" sz="2400" b="1" dirty="0">
                <a:latin typeface="Bookman Old Style" panose="02050604050505020204" pitchFamily="18" charset="0"/>
              </a:rPr>
              <a:t>Reduce star dependency:</a:t>
            </a:r>
            <a:r>
              <a:rPr lang="en-IN" sz="2400" dirty="0">
                <a:latin typeface="Bookman Old Style" panose="02050604050505020204" pitchFamily="18" charset="0"/>
              </a:rPr>
              <a:t> Distribute responsibility across multiple players </a:t>
            </a:r>
          </a:p>
          <a:p>
            <a:pPr>
              <a:buFont typeface="Arial" panose="020B0604020202020204" pitchFamily="34" charset="0"/>
              <a:buChar char="•"/>
            </a:pPr>
            <a:r>
              <a:rPr lang="en-IN" sz="2400" b="1" dirty="0">
                <a:latin typeface="Bookman Old Style" panose="02050604050505020204" pitchFamily="18" charset="0"/>
              </a:rPr>
              <a:t>Balance squad composition:</a:t>
            </a:r>
            <a:r>
              <a:rPr lang="en-IN" sz="2400" dirty="0">
                <a:latin typeface="Bookman Old Style" panose="02050604050505020204" pitchFamily="18" charset="0"/>
              </a:rPr>
              <a:t> Maintain equal strength across batting, bowling, and all-round roles </a:t>
            </a:r>
          </a:p>
          <a:p>
            <a:endParaRPr lang="en-US" dirty="0"/>
          </a:p>
        </p:txBody>
      </p:sp>
    </p:spTree>
    <p:extLst>
      <p:ext uri="{BB962C8B-B14F-4D97-AF65-F5344CB8AC3E}">
        <p14:creationId xmlns:p14="http://schemas.microsoft.com/office/powerpoint/2010/main" val="1155889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C71B0-A7C7-DEE9-FB77-C513748E1572}"/>
              </a:ext>
            </a:extLst>
          </p:cNvPr>
          <p:cNvSpPr>
            <a:spLocks noGrp="1"/>
          </p:cNvSpPr>
          <p:nvPr>
            <p:ph type="title"/>
          </p:nvPr>
        </p:nvSpPr>
        <p:spPr/>
        <p:txBody>
          <a:bodyPr/>
          <a:lstStyle/>
          <a:p>
            <a:r>
              <a:rPr lang="en-IN" b="1" dirty="0">
                <a:latin typeface="+mn-lt"/>
              </a:rPr>
              <a:t>Closing Remarks</a:t>
            </a:r>
            <a:endParaRPr lang="en-US" b="1" dirty="0">
              <a:latin typeface="+mn-lt"/>
            </a:endParaRPr>
          </a:p>
        </p:txBody>
      </p:sp>
      <p:sp>
        <p:nvSpPr>
          <p:cNvPr id="3" name="Content Placeholder 2">
            <a:extLst>
              <a:ext uri="{FF2B5EF4-FFF2-40B4-BE49-F238E27FC236}">
                <a16:creationId xmlns:a16="http://schemas.microsoft.com/office/drawing/2014/main" id="{AAB614D0-074A-7AB3-C98C-E7CC2AEC68BF}"/>
              </a:ext>
            </a:extLst>
          </p:cNvPr>
          <p:cNvSpPr>
            <a:spLocks noGrp="1"/>
          </p:cNvSpPr>
          <p:nvPr>
            <p:ph idx="1"/>
          </p:nvPr>
        </p:nvSpPr>
        <p:spPr/>
        <p:txBody>
          <a:bodyPr/>
          <a:lstStyle/>
          <a:p>
            <a:pPr marL="0" indent="0">
              <a:buNone/>
            </a:pPr>
            <a:r>
              <a:rPr lang="en-IN" sz="2000" dirty="0">
                <a:latin typeface="Bookman Old Style" panose="02050604050505020204" pitchFamily="18" charset="0"/>
              </a:rPr>
              <a:t>To ultimately win the trophy, RCB must evolve from a star-dependent side into a well-balanced, strategy-oriented team. This shift requires data-driven auction decisions, venue-specific planning, and smarter squad rotation. In the end, championships are earned not through occasional brilliance, but through consistency, depth, and adaptability across the entire season.</a:t>
            </a:r>
          </a:p>
          <a:p>
            <a:endParaRPr lang="en-US" dirty="0"/>
          </a:p>
        </p:txBody>
      </p:sp>
      <p:pic>
        <p:nvPicPr>
          <p:cNvPr id="5" name="Picture 4">
            <a:extLst>
              <a:ext uri="{FF2B5EF4-FFF2-40B4-BE49-F238E27FC236}">
                <a16:creationId xmlns:a16="http://schemas.microsoft.com/office/drawing/2014/main" id="{635115FD-5BB1-2DAE-2850-1B675204BD41}"/>
              </a:ext>
            </a:extLst>
          </p:cNvPr>
          <p:cNvPicPr>
            <a:picLocks noChangeAspect="1"/>
          </p:cNvPicPr>
          <p:nvPr/>
        </p:nvPicPr>
        <p:blipFill>
          <a:blip r:embed="rId2"/>
          <a:stretch>
            <a:fillRect/>
          </a:stretch>
        </p:blipFill>
        <p:spPr>
          <a:xfrm>
            <a:off x="2620537" y="3250891"/>
            <a:ext cx="6423101" cy="2926072"/>
          </a:xfrm>
          <a:prstGeom prst="rect">
            <a:avLst/>
          </a:prstGeom>
        </p:spPr>
      </p:pic>
    </p:spTree>
    <p:extLst>
      <p:ext uri="{BB962C8B-B14F-4D97-AF65-F5344CB8AC3E}">
        <p14:creationId xmlns:p14="http://schemas.microsoft.com/office/powerpoint/2010/main" val="3829340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3FD249-6210-A503-5556-A27357B5D20E}"/>
              </a:ext>
            </a:extLst>
          </p:cNvPr>
          <p:cNvSpPr txBox="1"/>
          <p:nvPr/>
        </p:nvSpPr>
        <p:spPr>
          <a:xfrm>
            <a:off x="3936380" y="1973766"/>
            <a:ext cx="184731" cy="369332"/>
          </a:xfrm>
          <a:prstGeom prst="rect">
            <a:avLst/>
          </a:prstGeom>
          <a:noFill/>
        </p:spPr>
        <p:txBody>
          <a:bodyPr wrap="none" rtlCol="0">
            <a:spAutoFit/>
          </a:bodyPr>
          <a:lstStyle/>
          <a:p>
            <a:endParaRPr lang="en-US" dirty="0"/>
          </a:p>
        </p:txBody>
      </p:sp>
      <p:sp>
        <p:nvSpPr>
          <p:cNvPr id="3" name="Rectangle 2">
            <a:extLst>
              <a:ext uri="{FF2B5EF4-FFF2-40B4-BE49-F238E27FC236}">
                <a16:creationId xmlns:a16="http://schemas.microsoft.com/office/drawing/2014/main" id="{1B1A8043-B7A6-0874-183D-329A14334938}"/>
              </a:ext>
            </a:extLst>
          </p:cNvPr>
          <p:cNvSpPr/>
          <p:nvPr/>
        </p:nvSpPr>
        <p:spPr>
          <a:xfrm>
            <a:off x="1014761" y="724829"/>
            <a:ext cx="10303727" cy="539719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CAEF1885-CC1F-AF94-109E-774574EC9AB0}"/>
              </a:ext>
            </a:extLst>
          </p:cNvPr>
          <p:cNvPicPr>
            <a:picLocks noChangeAspect="1"/>
          </p:cNvPicPr>
          <p:nvPr/>
        </p:nvPicPr>
        <p:blipFill>
          <a:blip r:embed="rId2"/>
          <a:stretch>
            <a:fillRect/>
          </a:stretch>
        </p:blipFill>
        <p:spPr>
          <a:xfrm>
            <a:off x="4028745" y="961994"/>
            <a:ext cx="3069934" cy="4922859"/>
          </a:xfrm>
          <a:prstGeom prst="rect">
            <a:avLst/>
          </a:prstGeom>
        </p:spPr>
      </p:pic>
      <p:sp>
        <p:nvSpPr>
          <p:cNvPr id="6" name="Rectangle 5">
            <a:extLst>
              <a:ext uri="{FF2B5EF4-FFF2-40B4-BE49-F238E27FC236}">
                <a16:creationId xmlns:a16="http://schemas.microsoft.com/office/drawing/2014/main" id="{2FEC370D-03ED-86F5-91E9-F718FE2A2AB5}"/>
              </a:ext>
            </a:extLst>
          </p:cNvPr>
          <p:cNvSpPr/>
          <p:nvPr/>
        </p:nvSpPr>
        <p:spPr>
          <a:xfrm>
            <a:off x="7557513" y="4451273"/>
            <a:ext cx="2787805" cy="16707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altLang="en-US" sz="3600" b="1" dirty="0">
                <a:solidFill>
                  <a:schemeClr val="bg1"/>
                </a:solidFill>
                <a:latin typeface="Bookman Old Style" panose="02050604050505020204" pitchFamily="18" charset="0"/>
                <a:ea typeface="Instrument Sans Semi Bold" pitchFamily="34" charset="-122"/>
                <a:cs typeface="Times New Roman" panose="02020603050405020304" charset="0"/>
                <a:sym typeface="+mn-ea"/>
              </a:rPr>
              <a:t>Thank You</a:t>
            </a:r>
            <a:endParaRPr lang="en-US" sz="3600" b="1" dirty="0">
              <a:solidFill>
                <a:schemeClr val="bg1"/>
              </a:solidFill>
              <a:latin typeface="Bookman Old Style" panose="02050604050505020204" pitchFamily="18" charset="0"/>
            </a:endParaRPr>
          </a:p>
        </p:txBody>
      </p:sp>
    </p:spTree>
    <p:extLst>
      <p:ext uri="{BB962C8B-B14F-4D97-AF65-F5344CB8AC3E}">
        <p14:creationId xmlns:p14="http://schemas.microsoft.com/office/powerpoint/2010/main" val="624341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1009</Words>
  <Application>Microsoft Macintosh PowerPoint</Application>
  <PresentationFormat>Widescreen</PresentationFormat>
  <Paragraphs>61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Bookman Old Style</vt:lpstr>
      <vt:lpstr>Calibri</vt:lpstr>
      <vt:lpstr>Calibri Light</vt:lpstr>
      <vt:lpstr>Times New Roman</vt:lpstr>
      <vt:lpstr>Office Theme</vt:lpstr>
      <vt:lpstr>IPL Data Analysis:  Building a Winning Strategy for RCB  Pratikshya Priyadarshani Patra</vt:lpstr>
      <vt:lpstr>Agenda</vt:lpstr>
      <vt:lpstr>Problem Statement</vt:lpstr>
      <vt:lpstr>Database schema</vt:lpstr>
      <vt:lpstr>The Unanswered Question:  Why Has Success Not Translated into a Trophy?</vt:lpstr>
      <vt:lpstr>RCB Performance Overview (Season-wise)</vt:lpstr>
      <vt:lpstr>Home vs Away performance</vt:lpstr>
      <vt:lpstr>Toss Decisions &amp; Venue Impact</vt:lpstr>
      <vt:lpstr>Player Presence &amp; Morale Impact</vt:lpstr>
      <vt:lpstr>Squad Balance – Batting vs Bowling</vt:lpstr>
      <vt:lpstr>Role of All-Rounders</vt:lpstr>
      <vt:lpstr>Stars vs Team Performance</vt:lpstr>
      <vt:lpstr>Why NO Trophy:</vt:lpstr>
      <vt:lpstr>Crafting a Path to Glory</vt:lpstr>
      <vt:lpstr>Improvement Plan</vt:lpstr>
      <vt:lpstr>Closing Remarks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Data Analysis:  Building a Winning Strategy for RCB  Pratikshya Priyadarshani Patra</dc:title>
  <dc:creator>Pratikshya Priyadarshani Patra</dc:creator>
  <cp:lastModifiedBy>Pratikshya Priyadarshani Patra</cp:lastModifiedBy>
  <cp:revision>2</cp:revision>
  <dcterms:created xsi:type="dcterms:W3CDTF">2026-06-01T05:40:23Z</dcterms:created>
  <dcterms:modified xsi:type="dcterms:W3CDTF">2026-06-01T09:12:20Z</dcterms:modified>
</cp:coreProperties>
</file>